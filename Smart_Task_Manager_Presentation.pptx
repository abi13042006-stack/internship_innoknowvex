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29f7bc8-edd9-f4ba-6b55-40aa5af8beb0}">
          <p14:sldIdLst>
            <p14:sldId id="256"/>
            <p14:sldId id="257"/>
            <p14:sldId id="258"/>
            <p14:sldId id="259"/>
          </p14:sldIdLst>
        </p14:section>
        <p14:section name="Design" id="{7da3df51-90dc-0d5a-f681-17a8c9e4ee7b}">
          <p14:sldIdLst>
            <p14:sldId id="260"/>
            <p14:sldId id="261"/>
            <p14:sldId id="262"/>
            <p14:sldId id="263"/>
          </p14:sldIdLst>
        </p14:section>
        <p14:section name="Implementation" id="{0d51dc67-6663-18d5-0929-fb16f6cc7e9f}">
          <p14:sldIdLst>
            <p14:sldId id="264"/>
            <p14:sldId id="265"/>
          </p14:sldIdLst>
        </p14:section>
        <p14:section name="Results" id="{df76d195-aae3-9e8e-dc94-a95beaee8965}">
          <p14:sldIdLst>
            <p14:sldId id="266"/>
            <p14:sldId id="267"/>
            <p14:sldId id="268"/>
            <p14:sldId id="269"/>
          </p14:sldIdLst>
        </p14:section>
        <p14:section name="Conclusion" id="{2f44a982-0dc4-a366-9a43-5ffe2175458e}">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Abinaya U. This presentation covers my summer internship project, Smart Task Manager, a full stack web application built at Innoknowvex Pvt Ltd.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internship was at Innoknowvex Pvt Ltd, Bengaluru, from 12 June to 12 July 2026, under the guidance of Mr. D. Kumaresan, Team Leader.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use paper notes, chats and spreadsheets. These have no reminders, no priority guidance and no progress view, so deadlines are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system keeps all tasks in one secure place, ranks them with a priority score, highlights deadlines and shows progress on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the MERN stack with Tailwind CSS for styling, JWT and bcrypt for security, and Git and GitHub for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client sends requests to the Express API. JWT middleware verifies the user, controllers apply business logic, and Mongoose reads or writes MongoDB. The JSON response is shown as task lists, suggestions and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collections: User and Task. Each task stores the id of its owner, so every query can be filtered by the logged-in user and data stays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was orientation and design. Week 2 covered the database and authentication. Week 3 was APIs and React. Week 4 added smart features, testing and deployment. The last two days were for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pending task gets a score: priority weight times two plus urgency points. A high priority task due tomorrow scores 10 and appears first. Reminders mark tasks overdue or due within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Registration hashes the password with bcrypt before saving. Login compares the hash and issues a JWT valid for one day. Middleware checks this token on every task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register and log in securely. The dashboard shows total, completed, open and overdue tasks, the completion rate, reminders, the top priority tasks and a suggested plan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list shows category, priority, due date, status and smart score. The overdue task is flagged in red. The form lets users add tasks with category, priority, due date and estimated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overdue task is ranked first, followed by high priority tasks due soon. The daily plan fits tasks into six hours. Reminders flag overdue, due today and due tomorrow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17 automated tests pass and all 11 manual test cases passed. The main challenges were CORS, keeping login state after refresh, user isolation and time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project delivers a secure, responsive task manager with smart prioritisation. Future work includes notifications, team features, Kanban, machine learning suggestions and cloud deployment.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331720"/>
            <a:ext cx="5760720" cy="173736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ard-1"/>
          <p:cNvSpPr/>
          <p:nvPr/>
        </p:nvSpPr>
        <p:spPr>
          <a:xfrm>
            <a:off x="640080" y="502920"/>
            <a:ext cx="1005840" cy="1005840"/>
          </a:xfrm>
          <a:prstGeom prst="roundRect">
            <a:avLst>
              <a:gd name="adj" fmla="val 10909"/>
            </a:avLst>
          </a:prstGeom>
          <a:solidFill>
            <a:schemeClr val="bg1"/>
          </a:solidFill>
          <a:ln/>
        </p:spPr>
      </p:sp>
      <p:pic>
        <p:nvPicPr>
          <p:cNvPr id="3" name="anna-logo" descr="/home/claude/img/p-000.png">    </p:cNvPr>
          <p:cNvPicPr>
            <a:picLocks noChangeAspect="1"/>
          </p:cNvPicPr>
          <p:nvPr/>
        </p:nvPicPr>
        <p:blipFill>
          <a:blip r:embed="rId1"/>
          <a:stretch>
            <a:fillRect/>
          </a:stretch>
        </p:blipFill>
        <p:spPr>
          <a:xfrm>
            <a:off x="713232" y="576072"/>
            <a:ext cx="859536" cy="822960"/>
          </a:xfrm>
          <a:prstGeom prst="rect">
            <a:avLst/>
          </a:prstGeom>
        </p:spPr>
      </p:pic>
      <p:sp>
        <p:nvSpPr>
          <p:cNvPr id="4" name="text-2"/>
          <p:cNvSpPr txBox="1"/>
          <p:nvPr/>
        </p:nvSpPr>
        <p:spPr>
          <a:xfrm>
            <a:off x="1874520" y="685800"/>
            <a:ext cx="4754880" cy="320040"/>
          </a:xfrm>
          <a:prstGeom prst="rect">
            <a:avLst/>
          </a:prstGeom>
          <a:noFill/>
          <a:ln/>
        </p:spPr>
        <p:txBody>
          <a:bodyPr wrap="square" lIns="0" tIns="0" rIns="0" bIns="0" rtlCol="0" anchor="t"/>
          <a:lstStyle/>
          <a:p>
            <a:pPr indent="0" marL="0">
              <a:buNone/>
            </a:pPr>
            <a:r>
              <a:rPr lang="en-US" sz="1200" b="1" dirty="0">
                <a:solidFill>
                  <a:schemeClr val="bg2"/>
                </a:solidFill>
              </a:rPr>
              <a:t>UNIVERSITY COLLEGE OF ENGINEERING (BIT CAMPUS)</a:t>
            </a:r>
            <a:endParaRPr lang="en-US" sz="1200" dirty="0"/>
          </a:p>
        </p:txBody>
      </p:sp>
      <p:sp>
        <p:nvSpPr>
          <p:cNvPr id="5" name="text-3"/>
          <p:cNvSpPr txBox="1"/>
          <p:nvPr/>
        </p:nvSpPr>
        <p:spPr>
          <a:xfrm>
            <a:off x="1874520" y="1005840"/>
            <a:ext cx="4754880" cy="320040"/>
          </a:xfrm>
          <a:prstGeom prst="rect">
            <a:avLst/>
          </a:prstGeom>
          <a:noFill/>
          <a:ln/>
        </p:spPr>
        <p:txBody>
          <a:bodyPr wrap="square" lIns="0" tIns="0" rIns="0" bIns="0" rtlCol="0" anchor="t"/>
          <a:lstStyle/>
          <a:p>
            <a:pPr indent="0" marL="0">
              <a:buNone/>
            </a:pPr>
            <a:r>
              <a:rPr lang="en-US" sz="1200" dirty="0">
                <a:solidFill>
                  <a:schemeClr val="bg2"/>
                </a:solidFill>
              </a:rPr>
              <a:t>Anna University, Tiruchirappalli – 620 024</a:t>
            </a:r>
            <a:endParaRPr lang="en-US" sz="1200" dirty="0"/>
          </a:p>
        </p:txBody>
      </p:sp>
      <p:sp>
        <p:nvSpPr>
          <p:cNvPr id="6" name="text-4"/>
          <p:cNvSpPr txBox="1"/>
          <p:nvPr/>
        </p:nvSpPr>
        <p:spPr>
          <a:xfrm>
            <a:off x="640080" y="1920240"/>
            <a:ext cx="576072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SUMMER INTERNSHIP REPORT  |  IT3711</a:t>
            </a:r>
            <a:endParaRPr lang="en-US" sz="1400" dirty="0"/>
          </a:p>
        </p:txBody>
      </p:sp>
      <p:sp>
        <p:nvSpPr>
          <p:cNvPr id="7" name="Text 0"/>
          <p:cNvSpPr/>
          <p:nvPr>
            <p:ph idx="100" type="title" hasCustomPrompt="1"/>
          </p:nvPr>
        </p:nvSpPr>
        <p:spPr>
          <a:xfrm>
            <a:off x="640080" y="2331720"/>
            <a:ext cx="5760720" cy="1737360"/>
          </a:xfrm>
          <a:prstGeom prst="rect">
            <a:avLst/>
          </a:prstGeom>
          <a:noFill/>
          <a:ln/>
        </p:spPr>
        <p:txBody>
          <a:bodyPr wrap="square" lIns="0" tIns="0" rIns="0" bIns="0" rtlCol="0" anchor="t"/>
          <a:lstStyle/>
          <a:p>
            <a:pPr algn="l" indent="0" marL="0">
              <a:buNone/>
            </a:pPr>
            <a:r>
              <a:rPr lang="en-US" sz="5200" b="1" dirty="0">
                <a:solidFill>
                  <a:schemeClr val="bg1"/>
                </a:solidFill>
              </a:rPr>
              <a:t>Smart Task Manager</a:t>
            </a:r>
            <a:endParaRPr lang="en-US" sz="5200" dirty="0"/>
          </a:p>
        </p:txBody>
      </p:sp>
      <p:sp>
        <p:nvSpPr>
          <p:cNvPr id="8" name="text-5"/>
          <p:cNvSpPr txBox="1"/>
          <p:nvPr/>
        </p:nvSpPr>
        <p:spPr>
          <a:xfrm>
            <a:off x="640080" y="4206240"/>
            <a:ext cx="5486400" cy="822960"/>
          </a:xfrm>
          <a:prstGeom prst="rect">
            <a:avLst/>
          </a:prstGeom>
          <a:noFill/>
          <a:ln/>
        </p:spPr>
        <p:txBody>
          <a:bodyPr wrap="square" lIns="0" tIns="0" rIns="0" bIns="0" rtlCol="0" anchor="t"/>
          <a:lstStyle/>
          <a:p>
            <a:pPr indent="0" marL="0">
              <a:buNone/>
            </a:pPr>
            <a:r>
              <a:rPr lang="en-US" sz="2000" dirty="0">
                <a:solidFill>
                  <a:schemeClr val="bg2"/>
                </a:solidFill>
              </a:rPr>
              <a:t>A full stack web application to plan, prioritise and track daily work</a:t>
            </a:r>
            <a:endParaRPr lang="en-US" sz="2000" dirty="0"/>
          </a:p>
        </p:txBody>
      </p:sp>
      <p:sp>
        <p:nvSpPr>
          <p:cNvPr id="9" name="text-6"/>
          <p:cNvSpPr txBox="1"/>
          <p:nvPr/>
        </p:nvSpPr>
        <p:spPr>
          <a:xfrm>
            <a:off x="640080" y="5303520"/>
            <a:ext cx="3657600" cy="274320"/>
          </a:xfrm>
          <a:prstGeom prst="rect">
            <a:avLst/>
          </a:prstGeom>
          <a:noFill/>
          <a:ln/>
        </p:spPr>
        <p:txBody>
          <a:bodyPr wrap="square" lIns="0" tIns="0" rIns="0" bIns="0" rtlCol="0" anchor="t"/>
          <a:lstStyle/>
          <a:p>
            <a:pPr indent="0" marL="0">
              <a:buNone/>
            </a:pPr>
            <a:r>
              <a:rPr lang="en-US" sz="1400" b="1" dirty="0">
                <a:solidFill>
                  <a:schemeClr val="accent1"/>
                </a:solidFill>
              </a:rPr>
              <a:t>Submitted by</a:t>
            </a:r>
            <a:endParaRPr lang="en-US" sz="1400" dirty="0"/>
          </a:p>
        </p:txBody>
      </p:sp>
      <p:sp>
        <p:nvSpPr>
          <p:cNvPr id="10" name="text-7"/>
          <p:cNvSpPr txBox="1"/>
          <p:nvPr/>
        </p:nvSpPr>
        <p:spPr>
          <a:xfrm>
            <a:off x="640080" y="5577840"/>
            <a:ext cx="5760720" cy="411480"/>
          </a:xfrm>
          <a:prstGeom prst="rect">
            <a:avLst/>
          </a:prstGeom>
          <a:noFill/>
          <a:ln/>
        </p:spPr>
        <p:txBody>
          <a:bodyPr wrap="square" lIns="0" tIns="0" rIns="0" bIns="0" rtlCol="0" anchor="t"/>
          <a:lstStyle/>
          <a:p>
            <a:pPr indent="0" marL="0">
              <a:buNone/>
            </a:pPr>
            <a:r>
              <a:rPr lang="en-US" sz="2200" b="1" dirty="0">
                <a:solidFill>
                  <a:schemeClr val="bg1"/>
                </a:solidFill>
              </a:rPr>
              <a:t>Abinaya U – 810023205017</a:t>
            </a:r>
            <a:endParaRPr lang="en-US" sz="2200" dirty="0"/>
          </a:p>
        </p:txBody>
      </p:sp>
      <p:sp>
        <p:nvSpPr>
          <p:cNvPr id="11" name="text-8"/>
          <p:cNvSpPr txBox="1"/>
          <p:nvPr/>
        </p:nvSpPr>
        <p:spPr>
          <a:xfrm>
            <a:off x="640080" y="5989320"/>
            <a:ext cx="5760720" cy="274320"/>
          </a:xfrm>
          <a:prstGeom prst="rect">
            <a:avLst/>
          </a:prstGeom>
          <a:noFill/>
          <a:ln/>
        </p:spPr>
        <p:txBody>
          <a:bodyPr wrap="square" lIns="0" tIns="0" rIns="0" bIns="0" rtlCol="0" anchor="t"/>
          <a:lstStyle/>
          <a:p>
            <a:pPr indent="0" marL="0">
              <a:buNone/>
            </a:pPr>
            <a:r>
              <a:rPr lang="en-US" sz="1400" dirty="0">
                <a:solidFill>
                  <a:schemeClr val="bg2"/>
                </a:solidFill>
              </a:rPr>
              <a:t>B.Tech Information Technology</a:t>
            </a:r>
            <a:endParaRPr lang="en-US" sz="1400" dirty="0"/>
          </a:p>
        </p:txBody>
      </p:sp>
      <p:sp>
        <p:nvSpPr>
          <p:cNvPr id="12" name="card-9"/>
          <p:cNvSpPr/>
          <p:nvPr/>
        </p:nvSpPr>
        <p:spPr>
          <a:xfrm>
            <a:off x="6812280" y="1097280"/>
            <a:ext cx="4846320" cy="3429000"/>
          </a:xfrm>
          <a:prstGeom prst="roundRect">
            <a:avLst>
              <a:gd name="adj" fmla="val 3200"/>
            </a:avLst>
          </a:prstGeom>
          <a:solidFill>
            <a:schemeClr val="bg1"/>
          </a:solidFill>
          <a:ln/>
          <a:effectLst>
            <a:outerShdw sx="100000" sy="100000" kx="0" ky="0" algn="bl" rotWithShape="0" blurRad="101600" dist="25400" dir="5400000">
              <a:srgbClr val="000000">
                <a:alpha val="14000"/>
              </a:srgbClr>
            </a:outerShdw>
          </a:effectLst>
        </p:spPr>
      </p:sp>
      <p:pic>
        <p:nvPicPr>
          <p:cNvPr id="13" name="hero-dashboard" descr="/home/claude/img/p-018.png">    </p:cNvPr>
          <p:cNvPicPr>
            <a:picLocks noChangeAspect="1"/>
          </p:cNvPicPr>
          <p:nvPr/>
        </p:nvPicPr>
        <p:blipFill>
          <a:blip r:embed="rId2"/>
          <a:stretch>
            <a:fillRect/>
          </a:stretch>
        </p:blipFill>
        <p:spPr>
          <a:xfrm>
            <a:off x="6903720" y="1188720"/>
            <a:ext cx="4663440" cy="3169310"/>
          </a:xfrm>
          <a:prstGeom prst="rect">
            <a:avLst/>
          </a:prstGeom>
        </p:spPr>
      </p:pic>
      <p:sp>
        <p:nvSpPr>
          <p:cNvPr id="14" name="chip-10"/>
          <p:cNvSpPr/>
          <p:nvPr/>
        </p:nvSpPr>
        <p:spPr>
          <a:xfrm>
            <a:off x="6812280" y="4892040"/>
            <a:ext cx="1508760" cy="457200"/>
          </a:xfrm>
          <a:prstGeom prst="roundRect">
            <a:avLst>
              <a:gd name="adj" fmla="val 50000"/>
            </a:avLst>
          </a:prstGeom>
          <a:solidFill>
            <a:schemeClr val="accent1"/>
          </a:solidFill>
          <a:ln/>
        </p:spPr>
      </p:sp>
      <p:sp>
        <p:nvSpPr>
          <p:cNvPr id="15" name="text-11"/>
          <p:cNvSpPr txBox="1"/>
          <p:nvPr/>
        </p:nvSpPr>
        <p:spPr>
          <a:xfrm>
            <a:off x="6812280" y="4892040"/>
            <a:ext cx="1508760" cy="457200"/>
          </a:xfrm>
          <a:prstGeom prst="rect">
            <a:avLst/>
          </a:prstGeom>
          <a:noFill/>
          <a:ln/>
        </p:spPr>
        <p:txBody>
          <a:bodyPr wrap="square" lIns="0" tIns="0" rIns="0" bIns="0" rtlCol="0" anchor="ctr"/>
          <a:lstStyle/>
          <a:p>
            <a:pPr algn="ctr" indent="0" marL="0">
              <a:buNone/>
            </a:pPr>
            <a:r>
              <a:rPr lang="en-US" sz="1400" b="1" dirty="0">
                <a:solidFill>
                  <a:schemeClr val="bg1"/>
                </a:solidFill>
              </a:rPr>
              <a:t>MERN stack</a:t>
            </a:r>
            <a:endParaRPr lang="en-US" sz="1400" dirty="0"/>
          </a:p>
        </p:txBody>
      </p:sp>
      <p:sp>
        <p:nvSpPr>
          <p:cNvPr id="16" name="chip-12"/>
          <p:cNvSpPr/>
          <p:nvPr/>
        </p:nvSpPr>
        <p:spPr>
          <a:xfrm>
            <a:off x="8458200" y="4892040"/>
            <a:ext cx="1508760" cy="457200"/>
          </a:xfrm>
          <a:prstGeom prst="roundRect">
            <a:avLst>
              <a:gd name="adj" fmla="val 50000"/>
            </a:avLst>
          </a:prstGeom>
          <a:solidFill>
            <a:schemeClr val="accent1"/>
          </a:solidFill>
          <a:ln/>
        </p:spPr>
      </p:sp>
      <p:sp>
        <p:nvSpPr>
          <p:cNvPr id="17" name="text-13"/>
          <p:cNvSpPr txBox="1"/>
          <p:nvPr/>
        </p:nvSpPr>
        <p:spPr>
          <a:xfrm>
            <a:off x="8458200" y="4892040"/>
            <a:ext cx="1508760" cy="457200"/>
          </a:xfrm>
          <a:prstGeom prst="rect">
            <a:avLst/>
          </a:prstGeom>
          <a:noFill/>
          <a:ln/>
        </p:spPr>
        <p:txBody>
          <a:bodyPr wrap="square" lIns="0" tIns="0" rIns="0" bIns="0" rtlCol="0" anchor="ctr"/>
          <a:lstStyle/>
          <a:p>
            <a:pPr algn="ctr" indent="0" marL="0">
              <a:buNone/>
            </a:pPr>
            <a:r>
              <a:rPr lang="en-US" sz="1400" b="1" dirty="0">
                <a:solidFill>
                  <a:schemeClr val="bg1"/>
                </a:solidFill>
              </a:rPr>
              <a:t>JWT security</a:t>
            </a:r>
            <a:endParaRPr lang="en-US" sz="1400" dirty="0"/>
          </a:p>
        </p:txBody>
      </p:sp>
      <p:sp>
        <p:nvSpPr>
          <p:cNvPr id="18" name="chip-14"/>
          <p:cNvSpPr/>
          <p:nvPr/>
        </p:nvSpPr>
        <p:spPr>
          <a:xfrm>
            <a:off x="10104120" y="4892040"/>
            <a:ext cx="1508760" cy="457200"/>
          </a:xfrm>
          <a:prstGeom prst="roundRect">
            <a:avLst>
              <a:gd name="adj" fmla="val 50000"/>
            </a:avLst>
          </a:prstGeom>
          <a:solidFill>
            <a:schemeClr val="accent1"/>
          </a:solidFill>
          <a:ln/>
        </p:spPr>
      </p:sp>
      <p:sp>
        <p:nvSpPr>
          <p:cNvPr id="19" name="text-15"/>
          <p:cNvSpPr txBox="1"/>
          <p:nvPr/>
        </p:nvSpPr>
        <p:spPr>
          <a:xfrm>
            <a:off x="10104120" y="4892040"/>
            <a:ext cx="1508760" cy="457200"/>
          </a:xfrm>
          <a:prstGeom prst="rect">
            <a:avLst/>
          </a:prstGeom>
          <a:noFill/>
          <a:ln/>
        </p:spPr>
        <p:txBody>
          <a:bodyPr wrap="square" lIns="0" tIns="0" rIns="0" bIns="0" rtlCol="0" anchor="ctr"/>
          <a:lstStyle/>
          <a:p>
            <a:pPr algn="ctr" indent="0" marL="0">
              <a:buNone/>
            </a:pPr>
            <a:r>
              <a:rPr lang="en-US" sz="1400" b="1" dirty="0">
                <a:solidFill>
                  <a:schemeClr val="bg1"/>
                </a:solidFill>
              </a:rPr>
              <a:t>Smart ranking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Internship at Innoknowvex Pvt Ltd</a:t>
            </a:r>
            <a:endParaRPr lang="en-US" sz="3400" dirty="0"/>
          </a:p>
        </p:txBody>
      </p:sp>
      <p:sp>
        <p:nvSpPr>
          <p:cNvPr id="3" name="card-16"/>
          <p:cNvSpPr/>
          <p:nvPr/>
        </p:nvSpPr>
        <p:spPr>
          <a:xfrm>
            <a:off x="548640" y="1371600"/>
            <a:ext cx="3566160" cy="4754880"/>
          </a:xfrm>
          <a:prstGeom prst="roundRect">
            <a:avLst>
              <a:gd name="adj" fmla="val 3077"/>
            </a:avLst>
          </a:prstGeom>
          <a:solidFill>
            <a:schemeClr val="bg2"/>
          </a:solidFill>
          <a:ln/>
        </p:spPr>
      </p:sp>
      <p:sp>
        <p:nvSpPr>
          <p:cNvPr id="4" name="card-17"/>
          <p:cNvSpPr/>
          <p:nvPr/>
        </p:nvSpPr>
        <p:spPr>
          <a:xfrm>
            <a:off x="777240" y="1600200"/>
            <a:ext cx="3108960" cy="2377440"/>
          </a:xfrm>
          <a:prstGeom prst="roundRect">
            <a:avLst>
              <a:gd name="adj" fmla="val 4615"/>
            </a:avLst>
          </a:prstGeom>
          <a:solidFill>
            <a:schemeClr val="bg1"/>
          </a:solidFill>
          <a:ln/>
        </p:spPr>
      </p:sp>
      <p:pic>
        <p:nvPicPr>
          <p:cNvPr id="5" name="company-logo" descr="/home/claude/img/p-002.png">    </p:cNvPr>
          <p:cNvPicPr>
            <a:picLocks noChangeAspect="1"/>
          </p:cNvPicPr>
          <p:nvPr/>
        </p:nvPicPr>
        <p:blipFill>
          <a:blip r:embed="rId1"/>
          <a:stretch>
            <a:fillRect/>
          </a:stretch>
        </p:blipFill>
        <p:spPr>
          <a:xfrm>
            <a:off x="1188720" y="1737360"/>
            <a:ext cx="2286000" cy="1993392"/>
          </a:xfrm>
          <a:prstGeom prst="rect">
            <a:avLst/>
          </a:prstGeom>
        </p:spPr>
      </p:pic>
      <p:sp>
        <p:nvSpPr>
          <p:cNvPr id="6" name="text-18"/>
          <p:cNvSpPr txBox="1"/>
          <p:nvPr/>
        </p:nvSpPr>
        <p:spPr>
          <a:xfrm>
            <a:off x="777240" y="4206240"/>
            <a:ext cx="3108960" cy="365760"/>
          </a:xfrm>
          <a:prstGeom prst="rect">
            <a:avLst/>
          </a:prstGeom>
          <a:noFill/>
          <a:ln/>
        </p:spPr>
        <p:txBody>
          <a:bodyPr wrap="square" lIns="0" tIns="0" rIns="0" bIns="0" rtlCol="0" anchor="t"/>
          <a:lstStyle/>
          <a:p>
            <a:pPr algn="ctr" indent="0" marL="0">
              <a:buNone/>
            </a:pPr>
            <a:r>
              <a:rPr lang="en-US" sz="2000" b="1" dirty="0">
                <a:solidFill>
                  <a:schemeClr val="tx1"/>
                </a:solidFill>
              </a:rPr>
              <a:t>Innoknowvex Pvt Ltd</a:t>
            </a:r>
            <a:endParaRPr lang="en-US" sz="2000" dirty="0"/>
          </a:p>
        </p:txBody>
      </p:sp>
      <p:sp>
        <p:nvSpPr>
          <p:cNvPr id="7" name="text-19"/>
          <p:cNvSpPr txBox="1"/>
          <p:nvPr/>
        </p:nvSpPr>
        <p:spPr>
          <a:xfrm>
            <a:off x="868680" y="4709160"/>
            <a:ext cx="2926080" cy="1188720"/>
          </a:xfrm>
          <a:prstGeom prst="rect">
            <a:avLst/>
          </a:prstGeom>
          <a:noFill/>
          <a:ln/>
        </p:spPr>
        <p:txBody>
          <a:bodyPr wrap="square" lIns="0" tIns="0" rIns="0" bIns="0" rtlCol="0" anchor="t"/>
          <a:lstStyle/>
          <a:p>
            <a:pPr algn="ctr" indent="0" marL="0">
              <a:buNone/>
            </a:pPr>
            <a:r>
              <a:rPr lang="en-US" sz="1400" dirty="0">
                <a:solidFill>
                  <a:schemeClr val="accent6"/>
                </a:solidFill>
              </a:rPr>
              <a:t>Technology and training company offering project-based internships with industry experts.</a:t>
            </a:r>
            <a:endParaRPr lang="en-US" sz="1400" dirty="0"/>
          </a:p>
        </p:txBody>
      </p:sp>
      <p:sp>
        <p:nvSpPr>
          <p:cNvPr id="8" name="card-20"/>
          <p:cNvSpPr/>
          <p:nvPr/>
        </p:nvSpPr>
        <p:spPr>
          <a:xfrm>
            <a:off x="4434840" y="1371600"/>
            <a:ext cx="7205472" cy="850392"/>
          </a:xfrm>
          <a:prstGeom prst="roundRect">
            <a:avLst>
              <a:gd name="adj" fmla="val 12903"/>
            </a:avLst>
          </a:prstGeom>
          <a:solidFill>
            <a:schemeClr val="bg2"/>
          </a:solidFill>
          <a:ln/>
        </p:spPr>
      </p:sp>
      <p:sp>
        <p:nvSpPr>
          <p:cNvPr id="9" name="iconbg-21"/>
          <p:cNvSpPr/>
          <p:nvPr/>
        </p:nvSpPr>
        <p:spPr>
          <a:xfrm>
            <a:off x="4617720" y="1536192"/>
            <a:ext cx="521208" cy="521208"/>
          </a:xfrm>
          <a:prstGeom prst="ellipse">
            <a:avLst/>
          </a:prstGeom>
          <a:solidFill>
            <a:schemeClr val="accent1"/>
          </a:solidFill>
          <a:ln/>
        </p:spPr>
      </p:sp>
      <p:pic>
        <p:nvPicPr>
          <p:cNvPr id="10" name="icon-22" descr="preencoded.png">    </p:cNvPr>
          <p:cNvPicPr>
            <a:picLocks noChangeAspect="1"/>
          </p:cNvPicPr>
          <p:nvPr/>
        </p:nvPicPr>
        <p:blipFill>
          <a:blip r:embed="rId2"/>
          <a:stretch>
            <a:fillRect/>
          </a:stretch>
        </p:blipFill>
        <p:spPr>
          <a:xfrm>
            <a:off x="4758446" y="1676918"/>
            <a:ext cx="239756" cy="239756"/>
          </a:xfrm>
          <a:prstGeom prst="rect">
            <a:avLst/>
          </a:prstGeom>
        </p:spPr>
      </p:pic>
      <p:sp>
        <p:nvSpPr>
          <p:cNvPr id="11" name="text-23"/>
          <p:cNvSpPr txBox="1"/>
          <p:nvPr/>
        </p:nvSpPr>
        <p:spPr>
          <a:xfrm>
            <a:off x="5349240" y="1481328"/>
            <a:ext cx="6126480" cy="256032"/>
          </a:xfrm>
          <a:prstGeom prst="rect">
            <a:avLst/>
          </a:prstGeom>
          <a:noFill/>
          <a:ln/>
        </p:spPr>
        <p:txBody>
          <a:bodyPr wrap="square" lIns="0" tIns="0" rIns="0" bIns="0" rtlCol="0" anchor="t"/>
          <a:lstStyle/>
          <a:p>
            <a:pPr indent="0" marL="0">
              <a:buNone/>
            </a:pPr>
            <a:r>
              <a:rPr lang="en-US" sz="1200" b="1" dirty="0">
                <a:solidFill>
                  <a:schemeClr val="accent6"/>
                </a:solidFill>
              </a:rPr>
              <a:t>INDUSTRY EXPERT (JOINT SUPERVISOR)</a:t>
            </a:r>
            <a:endParaRPr lang="en-US" sz="1200" dirty="0"/>
          </a:p>
        </p:txBody>
      </p:sp>
      <p:sp>
        <p:nvSpPr>
          <p:cNvPr id="12" name="text-24"/>
          <p:cNvSpPr txBox="1"/>
          <p:nvPr/>
        </p:nvSpPr>
        <p:spPr>
          <a:xfrm>
            <a:off x="5349240" y="1755648"/>
            <a:ext cx="6126480" cy="365760"/>
          </a:xfrm>
          <a:prstGeom prst="rect">
            <a:avLst/>
          </a:prstGeom>
          <a:noFill/>
          <a:ln/>
        </p:spPr>
        <p:txBody>
          <a:bodyPr wrap="square" lIns="0" tIns="0" rIns="0" bIns="0" rtlCol="0" anchor="t"/>
          <a:lstStyle/>
          <a:p>
            <a:pPr indent="0" marL="0">
              <a:buNone/>
            </a:pPr>
            <a:r>
              <a:rPr lang="en-US" sz="1800" b="1" dirty="0">
                <a:solidFill>
                  <a:schemeClr val="tx1"/>
                </a:solidFill>
              </a:rPr>
              <a:t>Mr. D. Kumaresan, Team Leader</a:t>
            </a:r>
            <a:endParaRPr lang="en-US" sz="1800" dirty="0"/>
          </a:p>
        </p:txBody>
      </p:sp>
      <p:sp>
        <p:nvSpPr>
          <p:cNvPr id="13" name="card-25"/>
          <p:cNvSpPr/>
          <p:nvPr/>
        </p:nvSpPr>
        <p:spPr>
          <a:xfrm>
            <a:off x="4434840" y="2331720"/>
            <a:ext cx="7205472" cy="850392"/>
          </a:xfrm>
          <a:prstGeom prst="roundRect">
            <a:avLst>
              <a:gd name="adj" fmla="val 12903"/>
            </a:avLst>
          </a:prstGeom>
          <a:solidFill>
            <a:schemeClr val="bg2"/>
          </a:solidFill>
          <a:ln/>
        </p:spPr>
      </p:sp>
      <p:sp>
        <p:nvSpPr>
          <p:cNvPr id="14" name="iconbg-26"/>
          <p:cNvSpPr/>
          <p:nvPr/>
        </p:nvSpPr>
        <p:spPr>
          <a:xfrm>
            <a:off x="4617720" y="2496312"/>
            <a:ext cx="521208" cy="521208"/>
          </a:xfrm>
          <a:prstGeom prst="ellipse">
            <a:avLst/>
          </a:prstGeom>
          <a:solidFill>
            <a:schemeClr val="accent1"/>
          </a:solidFill>
          <a:ln/>
        </p:spPr>
      </p:sp>
      <p:pic>
        <p:nvPicPr>
          <p:cNvPr id="15" name="icon-27" descr="preencoded.png">    </p:cNvPr>
          <p:cNvPicPr>
            <a:picLocks noChangeAspect="1"/>
          </p:cNvPicPr>
          <p:nvPr/>
        </p:nvPicPr>
        <p:blipFill>
          <a:blip r:embed="rId3"/>
          <a:stretch>
            <a:fillRect/>
          </a:stretch>
        </p:blipFill>
        <p:spPr>
          <a:xfrm>
            <a:off x="4758446" y="2637038"/>
            <a:ext cx="239756" cy="239756"/>
          </a:xfrm>
          <a:prstGeom prst="rect">
            <a:avLst/>
          </a:prstGeom>
        </p:spPr>
      </p:pic>
      <p:sp>
        <p:nvSpPr>
          <p:cNvPr id="16" name="text-28"/>
          <p:cNvSpPr txBox="1"/>
          <p:nvPr/>
        </p:nvSpPr>
        <p:spPr>
          <a:xfrm>
            <a:off x="5349240" y="2441448"/>
            <a:ext cx="6126480" cy="256032"/>
          </a:xfrm>
          <a:prstGeom prst="rect">
            <a:avLst/>
          </a:prstGeom>
          <a:noFill/>
          <a:ln/>
        </p:spPr>
        <p:txBody>
          <a:bodyPr wrap="square" lIns="0" tIns="0" rIns="0" bIns="0" rtlCol="0" anchor="t"/>
          <a:lstStyle/>
          <a:p>
            <a:pPr indent="0" marL="0">
              <a:buNone/>
            </a:pPr>
            <a:r>
              <a:rPr lang="en-US" sz="1200" b="1" dirty="0">
                <a:solidFill>
                  <a:schemeClr val="accent6"/>
                </a:solidFill>
              </a:rPr>
              <a:t>INTERNSHIP DOMAIN</a:t>
            </a:r>
            <a:endParaRPr lang="en-US" sz="1200" dirty="0"/>
          </a:p>
        </p:txBody>
      </p:sp>
      <p:sp>
        <p:nvSpPr>
          <p:cNvPr id="17" name="text-29"/>
          <p:cNvSpPr txBox="1"/>
          <p:nvPr/>
        </p:nvSpPr>
        <p:spPr>
          <a:xfrm>
            <a:off x="5349240" y="2715768"/>
            <a:ext cx="6126480" cy="365760"/>
          </a:xfrm>
          <a:prstGeom prst="rect">
            <a:avLst/>
          </a:prstGeom>
          <a:noFill/>
          <a:ln/>
        </p:spPr>
        <p:txBody>
          <a:bodyPr wrap="square" lIns="0" tIns="0" rIns="0" bIns="0" rtlCol="0" anchor="t"/>
          <a:lstStyle/>
          <a:p>
            <a:pPr indent="0" marL="0">
              <a:buNone/>
            </a:pPr>
            <a:r>
              <a:rPr lang="en-US" sz="1800" b="1" dirty="0">
                <a:solidFill>
                  <a:schemeClr val="tx1"/>
                </a:solidFill>
              </a:rPr>
              <a:t>Full Stack Web Development</a:t>
            </a:r>
            <a:endParaRPr lang="en-US" sz="1800" dirty="0"/>
          </a:p>
        </p:txBody>
      </p:sp>
      <p:sp>
        <p:nvSpPr>
          <p:cNvPr id="18" name="card-30"/>
          <p:cNvSpPr/>
          <p:nvPr/>
        </p:nvSpPr>
        <p:spPr>
          <a:xfrm>
            <a:off x="4434840" y="3291840"/>
            <a:ext cx="7205472" cy="850392"/>
          </a:xfrm>
          <a:prstGeom prst="roundRect">
            <a:avLst>
              <a:gd name="adj" fmla="val 12903"/>
            </a:avLst>
          </a:prstGeom>
          <a:solidFill>
            <a:schemeClr val="bg2"/>
          </a:solidFill>
          <a:ln/>
        </p:spPr>
      </p:sp>
      <p:sp>
        <p:nvSpPr>
          <p:cNvPr id="19" name="iconbg-31"/>
          <p:cNvSpPr/>
          <p:nvPr/>
        </p:nvSpPr>
        <p:spPr>
          <a:xfrm>
            <a:off x="4617720" y="3456432"/>
            <a:ext cx="521208" cy="521208"/>
          </a:xfrm>
          <a:prstGeom prst="ellipse">
            <a:avLst/>
          </a:prstGeom>
          <a:solidFill>
            <a:schemeClr val="accent1"/>
          </a:solidFill>
          <a:ln/>
        </p:spPr>
      </p:sp>
      <p:pic>
        <p:nvPicPr>
          <p:cNvPr id="20" name="icon-32" descr="preencoded.png">    </p:cNvPr>
          <p:cNvPicPr>
            <a:picLocks noChangeAspect="1"/>
          </p:cNvPicPr>
          <p:nvPr/>
        </p:nvPicPr>
        <p:blipFill>
          <a:blip r:embed="rId4"/>
          <a:stretch>
            <a:fillRect/>
          </a:stretch>
        </p:blipFill>
        <p:spPr>
          <a:xfrm>
            <a:off x="4758446" y="3597158"/>
            <a:ext cx="239756" cy="239756"/>
          </a:xfrm>
          <a:prstGeom prst="rect">
            <a:avLst/>
          </a:prstGeom>
        </p:spPr>
      </p:pic>
      <p:sp>
        <p:nvSpPr>
          <p:cNvPr id="21" name="text-33"/>
          <p:cNvSpPr txBox="1"/>
          <p:nvPr/>
        </p:nvSpPr>
        <p:spPr>
          <a:xfrm>
            <a:off x="5349240" y="3401568"/>
            <a:ext cx="6126480" cy="256032"/>
          </a:xfrm>
          <a:prstGeom prst="rect">
            <a:avLst/>
          </a:prstGeom>
          <a:noFill/>
          <a:ln/>
        </p:spPr>
        <p:txBody>
          <a:bodyPr wrap="square" lIns="0" tIns="0" rIns="0" bIns="0" rtlCol="0" anchor="t"/>
          <a:lstStyle/>
          <a:p>
            <a:pPr indent="0" marL="0">
              <a:buNone/>
            </a:pPr>
            <a:r>
              <a:rPr lang="en-US" sz="1200" b="1" dirty="0">
                <a:solidFill>
                  <a:schemeClr val="accent6"/>
                </a:solidFill>
              </a:rPr>
              <a:t>INTERNSHIP PERIOD</a:t>
            </a:r>
            <a:endParaRPr lang="en-US" sz="1200" dirty="0"/>
          </a:p>
        </p:txBody>
      </p:sp>
      <p:sp>
        <p:nvSpPr>
          <p:cNvPr id="22" name="text-34"/>
          <p:cNvSpPr txBox="1"/>
          <p:nvPr/>
        </p:nvSpPr>
        <p:spPr>
          <a:xfrm>
            <a:off x="5349240" y="3675888"/>
            <a:ext cx="6126480" cy="365760"/>
          </a:xfrm>
          <a:prstGeom prst="rect">
            <a:avLst/>
          </a:prstGeom>
          <a:noFill/>
          <a:ln/>
        </p:spPr>
        <p:txBody>
          <a:bodyPr wrap="square" lIns="0" tIns="0" rIns="0" bIns="0" rtlCol="0" anchor="t"/>
          <a:lstStyle/>
          <a:p>
            <a:pPr indent="0" marL="0">
              <a:buNone/>
            </a:pPr>
            <a:r>
              <a:rPr lang="en-US" sz="1800" b="1" dirty="0">
                <a:solidFill>
                  <a:schemeClr val="tx1"/>
                </a:solidFill>
              </a:rPr>
              <a:t>12 June 2026 – 12 July 2026 (30 days)</a:t>
            </a:r>
            <a:endParaRPr lang="en-US" sz="1800" dirty="0"/>
          </a:p>
        </p:txBody>
      </p:sp>
      <p:sp>
        <p:nvSpPr>
          <p:cNvPr id="23" name="card-35"/>
          <p:cNvSpPr/>
          <p:nvPr/>
        </p:nvSpPr>
        <p:spPr>
          <a:xfrm>
            <a:off x="4434840" y="4251960"/>
            <a:ext cx="7205472" cy="850392"/>
          </a:xfrm>
          <a:prstGeom prst="roundRect">
            <a:avLst>
              <a:gd name="adj" fmla="val 12903"/>
            </a:avLst>
          </a:prstGeom>
          <a:solidFill>
            <a:schemeClr val="bg2"/>
          </a:solidFill>
          <a:ln/>
        </p:spPr>
      </p:sp>
      <p:sp>
        <p:nvSpPr>
          <p:cNvPr id="24" name="iconbg-36"/>
          <p:cNvSpPr/>
          <p:nvPr/>
        </p:nvSpPr>
        <p:spPr>
          <a:xfrm>
            <a:off x="4617720" y="4416552"/>
            <a:ext cx="521208" cy="521208"/>
          </a:xfrm>
          <a:prstGeom prst="ellipse">
            <a:avLst/>
          </a:prstGeom>
          <a:solidFill>
            <a:schemeClr val="accent1"/>
          </a:solidFill>
          <a:ln/>
        </p:spPr>
      </p:sp>
      <p:pic>
        <p:nvPicPr>
          <p:cNvPr id="25" name="icon-37" descr="preencoded.png">    </p:cNvPr>
          <p:cNvPicPr>
            <a:picLocks noChangeAspect="1"/>
          </p:cNvPicPr>
          <p:nvPr/>
        </p:nvPicPr>
        <p:blipFill>
          <a:blip r:embed="rId5"/>
          <a:stretch>
            <a:fillRect/>
          </a:stretch>
        </p:blipFill>
        <p:spPr>
          <a:xfrm>
            <a:off x="4758446" y="4557278"/>
            <a:ext cx="239756" cy="239756"/>
          </a:xfrm>
          <a:prstGeom prst="rect">
            <a:avLst/>
          </a:prstGeom>
        </p:spPr>
      </p:pic>
      <p:sp>
        <p:nvSpPr>
          <p:cNvPr id="26" name="text-38"/>
          <p:cNvSpPr txBox="1"/>
          <p:nvPr/>
        </p:nvSpPr>
        <p:spPr>
          <a:xfrm>
            <a:off x="5349240" y="4361688"/>
            <a:ext cx="6126480" cy="256032"/>
          </a:xfrm>
          <a:prstGeom prst="rect">
            <a:avLst/>
          </a:prstGeom>
          <a:noFill/>
          <a:ln/>
        </p:spPr>
        <p:txBody>
          <a:bodyPr wrap="square" lIns="0" tIns="0" rIns="0" bIns="0" rtlCol="0" anchor="t"/>
          <a:lstStyle/>
          <a:p>
            <a:pPr indent="0" marL="0">
              <a:buNone/>
            </a:pPr>
            <a:r>
              <a:rPr lang="en-US" sz="1200" b="1" dirty="0">
                <a:solidFill>
                  <a:schemeClr val="accent6"/>
                </a:solidFill>
              </a:rPr>
              <a:t>PROJECT COMPLETED</a:t>
            </a:r>
            <a:endParaRPr lang="en-US" sz="1200" dirty="0"/>
          </a:p>
        </p:txBody>
      </p:sp>
      <p:sp>
        <p:nvSpPr>
          <p:cNvPr id="27" name="text-39"/>
          <p:cNvSpPr txBox="1"/>
          <p:nvPr/>
        </p:nvSpPr>
        <p:spPr>
          <a:xfrm>
            <a:off x="5349240" y="4636008"/>
            <a:ext cx="6126480" cy="365760"/>
          </a:xfrm>
          <a:prstGeom prst="rect">
            <a:avLst/>
          </a:prstGeom>
          <a:noFill/>
          <a:ln/>
        </p:spPr>
        <p:txBody>
          <a:bodyPr wrap="square" lIns="0" tIns="0" rIns="0" bIns="0" rtlCol="0" anchor="t"/>
          <a:lstStyle/>
          <a:p>
            <a:pPr indent="0" marL="0">
              <a:buNone/>
            </a:pPr>
            <a:r>
              <a:rPr lang="en-US" sz="1800" b="1" dirty="0">
                <a:solidFill>
                  <a:schemeClr val="tx1"/>
                </a:solidFill>
              </a:rPr>
              <a:t>Smart Task Manager</a:t>
            </a:r>
            <a:endParaRPr lang="en-US" sz="1800" dirty="0"/>
          </a:p>
        </p:txBody>
      </p:sp>
      <p:sp>
        <p:nvSpPr>
          <p:cNvPr id="28" name="card-40"/>
          <p:cNvSpPr/>
          <p:nvPr/>
        </p:nvSpPr>
        <p:spPr>
          <a:xfrm>
            <a:off x="4434840" y="5212080"/>
            <a:ext cx="7205472" cy="850392"/>
          </a:xfrm>
          <a:prstGeom prst="roundRect">
            <a:avLst>
              <a:gd name="adj" fmla="val 12903"/>
            </a:avLst>
          </a:prstGeom>
          <a:solidFill>
            <a:schemeClr val="bg2"/>
          </a:solidFill>
          <a:ln/>
        </p:spPr>
      </p:sp>
      <p:sp>
        <p:nvSpPr>
          <p:cNvPr id="29" name="iconbg-41"/>
          <p:cNvSpPr/>
          <p:nvPr/>
        </p:nvSpPr>
        <p:spPr>
          <a:xfrm>
            <a:off x="4617720" y="5376672"/>
            <a:ext cx="521208" cy="521208"/>
          </a:xfrm>
          <a:prstGeom prst="ellipse">
            <a:avLst/>
          </a:prstGeom>
          <a:solidFill>
            <a:schemeClr val="accent1"/>
          </a:solidFill>
          <a:ln/>
        </p:spPr>
      </p:sp>
      <p:pic>
        <p:nvPicPr>
          <p:cNvPr id="30" name="icon-42" descr="preencoded.png">    </p:cNvPr>
          <p:cNvPicPr>
            <a:picLocks noChangeAspect="1"/>
          </p:cNvPicPr>
          <p:nvPr/>
        </p:nvPicPr>
        <p:blipFill>
          <a:blip r:embed="rId6"/>
          <a:stretch>
            <a:fillRect/>
          </a:stretch>
        </p:blipFill>
        <p:spPr>
          <a:xfrm>
            <a:off x="4758446" y="5517398"/>
            <a:ext cx="239756" cy="239756"/>
          </a:xfrm>
          <a:prstGeom prst="rect">
            <a:avLst/>
          </a:prstGeom>
        </p:spPr>
      </p:pic>
      <p:sp>
        <p:nvSpPr>
          <p:cNvPr id="31" name="text-43"/>
          <p:cNvSpPr txBox="1"/>
          <p:nvPr/>
        </p:nvSpPr>
        <p:spPr>
          <a:xfrm>
            <a:off x="5349240" y="5321808"/>
            <a:ext cx="6126480" cy="256032"/>
          </a:xfrm>
          <a:prstGeom prst="rect">
            <a:avLst/>
          </a:prstGeom>
          <a:noFill/>
          <a:ln/>
        </p:spPr>
        <p:txBody>
          <a:bodyPr wrap="square" lIns="0" tIns="0" rIns="0" bIns="0" rtlCol="0" anchor="t"/>
          <a:lstStyle/>
          <a:p>
            <a:pPr indent="0" marL="0">
              <a:buNone/>
            </a:pPr>
            <a:r>
              <a:rPr lang="en-US" sz="1200" b="1" dirty="0">
                <a:solidFill>
                  <a:schemeClr val="accent6"/>
                </a:solidFill>
              </a:rPr>
              <a:t>LOCATION</a:t>
            </a:r>
            <a:endParaRPr lang="en-US" sz="1200" dirty="0"/>
          </a:p>
        </p:txBody>
      </p:sp>
      <p:sp>
        <p:nvSpPr>
          <p:cNvPr id="32" name="text-44"/>
          <p:cNvSpPr txBox="1"/>
          <p:nvPr/>
        </p:nvSpPr>
        <p:spPr>
          <a:xfrm>
            <a:off x="5349240" y="5596128"/>
            <a:ext cx="6126480" cy="365760"/>
          </a:xfrm>
          <a:prstGeom prst="rect">
            <a:avLst/>
          </a:prstGeom>
          <a:noFill/>
          <a:ln/>
        </p:spPr>
        <p:txBody>
          <a:bodyPr wrap="square" lIns="0" tIns="0" rIns="0" bIns="0" rtlCol="0" anchor="t"/>
          <a:lstStyle/>
          <a:p>
            <a:pPr indent="0" marL="0">
              <a:buNone/>
            </a:pPr>
            <a:r>
              <a:rPr lang="en-US" sz="1800" b="1" dirty="0">
                <a:solidFill>
                  <a:schemeClr val="tx1"/>
                </a:solidFill>
              </a:rPr>
              <a:t>HSR Layout, Bengaluru, Karnataka – 560102</a:t>
            </a:r>
            <a:endParaRPr lang="en-US" sz="18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Why task management needs fixing</a:t>
            </a:r>
            <a:endParaRPr lang="en-US" sz="3400" dirty="0"/>
          </a:p>
        </p:txBody>
      </p:sp>
      <p:sp>
        <p:nvSpPr>
          <p:cNvPr id="3" name="card-45"/>
          <p:cNvSpPr/>
          <p:nvPr/>
        </p:nvSpPr>
        <p:spPr>
          <a:xfrm>
            <a:off x="548640" y="1371600"/>
            <a:ext cx="3514344" cy="2011680"/>
          </a:xfrm>
          <a:prstGeom prst="roundRect">
            <a:avLst>
              <a:gd name="adj" fmla="val 5455"/>
            </a:avLst>
          </a:prstGeom>
          <a:solidFill>
            <a:schemeClr val="bg2"/>
          </a:solidFill>
          <a:ln/>
        </p:spPr>
      </p:sp>
      <p:sp>
        <p:nvSpPr>
          <p:cNvPr id="4" name="iconbg-46"/>
          <p:cNvSpPr/>
          <p:nvPr/>
        </p:nvSpPr>
        <p:spPr>
          <a:xfrm>
            <a:off x="822960" y="1627632"/>
            <a:ext cx="566928" cy="566928"/>
          </a:xfrm>
          <a:prstGeom prst="ellipse">
            <a:avLst/>
          </a:prstGeom>
          <a:solidFill>
            <a:schemeClr val="accent4"/>
          </a:solidFill>
          <a:ln/>
        </p:spPr>
      </p:sp>
      <p:pic>
        <p:nvPicPr>
          <p:cNvPr id="5" name="icon-47" descr="preencoded.png">    </p:cNvPr>
          <p:cNvPicPr>
            <a:picLocks noChangeAspect="1"/>
          </p:cNvPicPr>
          <p:nvPr/>
        </p:nvPicPr>
        <p:blipFill>
          <a:blip r:embed="rId1"/>
          <a:stretch>
            <a:fillRect/>
          </a:stretch>
        </p:blipFill>
        <p:spPr>
          <a:xfrm>
            <a:off x="976031" y="1780703"/>
            <a:ext cx="260787" cy="260787"/>
          </a:xfrm>
          <a:prstGeom prst="rect">
            <a:avLst/>
          </a:prstGeom>
        </p:spPr>
      </p:pic>
      <p:sp>
        <p:nvSpPr>
          <p:cNvPr id="6" name="text-48"/>
          <p:cNvSpPr txBox="1"/>
          <p:nvPr/>
        </p:nvSpPr>
        <p:spPr>
          <a:xfrm>
            <a:off x="822960" y="2340864"/>
            <a:ext cx="2965704" cy="320040"/>
          </a:xfrm>
          <a:prstGeom prst="rect">
            <a:avLst/>
          </a:prstGeom>
          <a:noFill/>
          <a:ln/>
        </p:spPr>
        <p:txBody>
          <a:bodyPr wrap="square" lIns="0" tIns="0" rIns="0" bIns="0" rtlCol="0" anchor="t"/>
          <a:lstStyle/>
          <a:p>
            <a:pPr indent="0" marL="0">
              <a:buNone/>
            </a:pPr>
            <a:r>
              <a:rPr lang="en-US" sz="1800" b="1" dirty="0">
                <a:solidFill>
                  <a:schemeClr val="tx1"/>
                </a:solidFill>
              </a:rPr>
              <a:t>Scattered tasks</a:t>
            </a:r>
            <a:endParaRPr lang="en-US" sz="1800" dirty="0"/>
          </a:p>
        </p:txBody>
      </p:sp>
      <p:sp>
        <p:nvSpPr>
          <p:cNvPr id="7" name="text-49"/>
          <p:cNvSpPr txBox="1"/>
          <p:nvPr/>
        </p:nvSpPr>
        <p:spPr>
          <a:xfrm>
            <a:off x="822960" y="269748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Notes, chats and files make tracking difficult</a:t>
            </a:r>
            <a:endParaRPr lang="en-US" sz="1400" dirty="0"/>
          </a:p>
        </p:txBody>
      </p:sp>
      <p:sp>
        <p:nvSpPr>
          <p:cNvPr id="8" name="card-50"/>
          <p:cNvSpPr/>
          <p:nvPr/>
        </p:nvSpPr>
        <p:spPr>
          <a:xfrm>
            <a:off x="4337304" y="1371600"/>
            <a:ext cx="3514344" cy="2011680"/>
          </a:xfrm>
          <a:prstGeom prst="roundRect">
            <a:avLst>
              <a:gd name="adj" fmla="val 5455"/>
            </a:avLst>
          </a:prstGeom>
          <a:solidFill>
            <a:schemeClr val="bg2"/>
          </a:solidFill>
          <a:ln/>
        </p:spPr>
      </p:sp>
      <p:sp>
        <p:nvSpPr>
          <p:cNvPr id="9" name="iconbg-51"/>
          <p:cNvSpPr/>
          <p:nvPr/>
        </p:nvSpPr>
        <p:spPr>
          <a:xfrm>
            <a:off x="4611624" y="1627632"/>
            <a:ext cx="566928" cy="566928"/>
          </a:xfrm>
          <a:prstGeom prst="ellipse">
            <a:avLst/>
          </a:prstGeom>
          <a:solidFill>
            <a:schemeClr val="accent4"/>
          </a:solidFill>
          <a:ln/>
        </p:spPr>
      </p:sp>
      <p:pic>
        <p:nvPicPr>
          <p:cNvPr id="10" name="icon-52" descr="preencoded.png">    </p:cNvPr>
          <p:cNvPicPr>
            <a:picLocks noChangeAspect="1"/>
          </p:cNvPicPr>
          <p:nvPr/>
        </p:nvPicPr>
        <p:blipFill>
          <a:blip r:embed="rId2"/>
          <a:stretch>
            <a:fillRect/>
          </a:stretch>
        </p:blipFill>
        <p:spPr>
          <a:xfrm>
            <a:off x="4764695" y="1780703"/>
            <a:ext cx="260787" cy="260787"/>
          </a:xfrm>
          <a:prstGeom prst="rect">
            <a:avLst/>
          </a:prstGeom>
        </p:spPr>
      </p:pic>
      <p:sp>
        <p:nvSpPr>
          <p:cNvPr id="11" name="text-53"/>
          <p:cNvSpPr txBox="1"/>
          <p:nvPr/>
        </p:nvSpPr>
        <p:spPr>
          <a:xfrm>
            <a:off x="4611624" y="2340864"/>
            <a:ext cx="2965704" cy="320040"/>
          </a:xfrm>
          <a:prstGeom prst="rect">
            <a:avLst/>
          </a:prstGeom>
          <a:noFill/>
          <a:ln/>
        </p:spPr>
        <p:txBody>
          <a:bodyPr wrap="square" lIns="0" tIns="0" rIns="0" bIns="0" rtlCol="0" anchor="t"/>
          <a:lstStyle/>
          <a:p>
            <a:pPr indent="0" marL="0">
              <a:buNone/>
            </a:pPr>
            <a:r>
              <a:rPr lang="en-US" sz="1800" b="1" dirty="0">
                <a:solidFill>
                  <a:schemeClr val="tx1"/>
                </a:solidFill>
              </a:rPr>
              <a:t>No priority guidance</a:t>
            </a:r>
            <a:endParaRPr lang="en-US" sz="1800" dirty="0"/>
          </a:p>
        </p:txBody>
      </p:sp>
      <p:sp>
        <p:nvSpPr>
          <p:cNvPr id="12" name="text-54"/>
          <p:cNvSpPr txBox="1"/>
          <p:nvPr/>
        </p:nvSpPr>
        <p:spPr>
          <a:xfrm>
            <a:off x="4611624" y="269748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Lists never say which task to do first</a:t>
            </a:r>
            <a:endParaRPr lang="en-US" sz="1400" dirty="0"/>
          </a:p>
        </p:txBody>
      </p:sp>
      <p:sp>
        <p:nvSpPr>
          <p:cNvPr id="13" name="card-55"/>
          <p:cNvSpPr/>
          <p:nvPr/>
        </p:nvSpPr>
        <p:spPr>
          <a:xfrm>
            <a:off x="8125968" y="1371600"/>
            <a:ext cx="3514344" cy="2011680"/>
          </a:xfrm>
          <a:prstGeom prst="roundRect">
            <a:avLst>
              <a:gd name="adj" fmla="val 5455"/>
            </a:avLst>
          </a:prstGeom>
          <a:solidFill>
            <a:schemeClr val="bg2"/>
          </a:solidFill>
          <a:ln/>
        </p:spPr>
      </p:sp>
      <p:sp>
        <p:nvSpPr>
          <p:cNvPr id="14" name="iconbg-56"/>
          <p:cNvSpPr/>
          <p:nvPr/>
        </p:nvSpPr>
        <p:spPr>
          <a:xfrm>
            <a:off x="8400288" y="1627632"/>
            <a:ext cx="566928" cy="566928"/>
          </a:xfrm>
          <a:prstGeom prst="ellipse">
            <a:avLst/>
          </a:prstGeom>
          <a:solidFill>
            <a:schemeClr val="accent4"/>
          </a:solidFill>
          <a:ln/>
        </p:spPr>
      </p:sp>
      <p:pic>
        <p:nvPicPr>
          <p:cNvPr id="15" name="icon-57" descr="preencoded.png">    </p:cNvPr>
          <p:cNvPicPr>
            <a:picLocks noChangeAspect="1"/>
          </p:cNvPicPr>
          <p:nvPr/>
        </p:nvPicPr>
        <p:blipFill>
          <a:blip r:embed="rId3"/>
          <a:stretch>
            <a:fillRect/>
          </a:stretch>
        </p:blipFill>
        <p:spPr>
          <a:xfrm>
            <a:off x="8553359" y="1780703"/>
            <a:ext cx="260787" cy="260787"/>
          </a:xfrm>
          <a:prstGeom prst="rect">
            <a:avLst/>
          </a:prstGeom>
        </p:spPr>
      </p:pic>
      <p:sp>
        <p:nvSpPr>
          <p:cNvPr id="16" name="text-58"/>
          <p:cNvSpPr txBox="1"/>
          <p:nvPr/>
        </p:nvSpPr>
        <p:spPr>
          <a:xfrm>
            <a:off x="8400288" y="2340864"/>
            <a:ext cx="2965704" cy="320040"/>
          </a:xfrm>
          <a:prstGeom prst="rect">
            <a:avLst/>
          </a:prstGeom>
          <a:noFill/>
          <a:ln/>
        </p:spPr>
        <p:txBody>
          <a:bodyPr wrap="square" lIns="0" tIns="0" rIns="0" bIns="0" rtlCol="0" anchor="t"/>
          <a:lstStyle/>
          <a:p>
            <a:pPr indent="0" marL="0">
              <a:buNone/>
            </a:pPr>
            <a:r>
              <a:rPr lang="en-US" sz="1800" b="1" dirty="0">
                <a:solidFill>
                  <a:schemeClr val="tx1"/>
                </a:solidFill>
              </a:rPr>
              <a:t>No reminders</a:t>
            </a:r>
            <a:endParaRPr lang="en-US" sz="1800" dirty="0"/>
          </a:p>
        </p:txBody>
      </p:sp>
      <p:sp>
        <p:nvSpPr>
          <p:cNvPr id="17" name="text-59"/>
          <p:cNvSpPr txBox="1"/>
          <p:nvPr/>
        </p:nvSpPr>
        <p:spPr>
          <a:xfrm>
            <a:off x="8400288" y="269748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Nothing alerts the user, so deadlines are missed</a:t>
            </a:r>
            <a:endParaRPr lang="en-US" sz="1400" dirty="0"/>
          </a:p>
        </p:txBody>
      </p:sp>
      <p:sp>
        <p:nvSpPr>
          <p:cNvPr id="18" name="card-60"/>
          <p:cNvSpPr/>
          <p:nvPr/>
        </p:nvSpPr>
        <p:spPr>
          <a:xfrm>
            <a:off x="548640" y="3611880"/>
            <a:ext cx="3514344" cy="2011680"/>
          </a:xfrm>
          <a:prstGeom prst="roundRect">
            <a:avLst>
              <a:gd name="adj" fmla="val 5455"/>
            </a:avLst>
          </a:prstGeom>
          <a:solidFill>
            <a:schemeClr val="bg2"/>
          </a:solidFill>
          <a:ln/>
        </p:spPr>
      </p:sp>
      <p:sp>
        <p:nvSpPr>
          <p:cNvPr id="19" name="iconbg-61"/>
          <p:cNvSpPr/>
          <p:nvPr/>
        </p:nvSpPr>
        <p:spPr>
          <a:xfrm>
            <a:off x="822960" y="3867912"/>
            <a:ext cx="566928" cy="566928"/>
          </a:xfrm>
          <a:prstGeom prst="ellipse">
            <a:avLst/>
          </a:prstGeom>
          <a:solidFill>
            <a:schemeClr val="accent4"/>
          </a:solidFill>
          <a:ln/>
        </p:spPr>
      </p:sp>
      <p:pic>
        <p:nvPicPr>
          <p:cNvPr id="20" name="icon-62" descr="preencoded.png">    </p:cNvPr>
          <p:cNvPicPr>
            <a:picLocks noChangeAspect="1"/>
          </p:cNvPicPr>
          <p:nvPr/>
        </p:nvPicPr>
        <p:blipFill>
          <a:blip r:embed="rId4"/>
          <a:stretch>
            <a:fillRect/>
          </a:stretch>
        </p:blipFill>
        <p:spPr>
          <a:xfrm>
            <a:off x="976031" y="4020983"/>
            <a:ext cx="260787" cy="260787"/>
          </a:xfrm>
          <a:prstGeom prst="rect">
            <a:avLst/>
          </a:prstGeom>
        </p:spPr>
      </p:pic>
      <p:sp>
        <p:nvSpPr>
          <p:cNvPr id="21" name="text-63"/>
          <p:cNvSpPr txBox="1"/>
          <p:nvPr/>
        </p:nvSpPr>
        <p:spPr>
          <a:xfrm>
            <a:off x="822960" y="4581144"/>
            <a:ext cx="2965704" cy="320040"/>
          </a:xfrm>
          <a:prstGeom prst="rect">
            <a:avLst/>
          </a:prstGeom>
          <a:noFill/>
          <a:ln/>
        </p:spPr>
        <p:txBody>
          <a:bodyPr wrap="square" lIns="0" tIns="0" rIns="0" bIns="0" rtlCol="0" anchor="t"/>
          <a:lstStyle/>
          <a:p>
            <a:pPr indent="0" marL="0">
              <a:buNone/>
            </a:pPr>
            <a:r>
              <a:rPr lang="en-US" sz="1800" b="1" dirty="0">
                <a:solidFill>
                  <a:schemeClr val="tx1"/>
                </a:solidFill>
              </a:rPr>
              <a:t>No progress view</a:t>
            </a:r>
            <a:endParaRPr lang="en-US" sz="1800" dirty="0"/>
          </a:p>
        </p:txBody>
      </p:sp>
      <p:sp>
        <p:nvSpPr>
          <p:cNvPr id="22" name="text-64"/>
          <p:cNvSpPr txBox="1"/>
          <p:nvPr/>
        </p:nvSpPr>
        <p:spPr>
          <a:xfrm>
            <a:off x="822960" y="493776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Completed, pending and overdue work is unclear</a:t>
            </a:r>
            <a:endParaRPr lang="en-US" sz="1400" dirty="0"/>
          </a:p>
        </p:txBody>
      </p:sp>
      <p:sp>
        <p:nvSpPr>
          <p:cNvPr id="23" name="card-65"/>
          <p:cNvSpPr/>
          <p:nvPr/>
        </p:nvSpPr>
        <p:spPr>
          <a:xfrm>
            <a:off x="4337304" y="3611880"/>
            <a:ext cx="3514344" cy="2011680"/>
          </a:xfrm>
          <a:prstGeom prst="roundRect">
            <a:avLst>
              <a:gd name="adj" fmla="val 5455"/>
            </a:avLst>
          </a:prstGeom>
          <a:solidFill>
            <a:schemeClr val="bg2"/>
          </a:solidFill>
          <a:ln/>
        </p:spPr>
      </p:sp>
      <p:sp>
        <p:nvSpPr>
          <p:cNvPr id="24" name="iconbg-66"/>
          <p:cNvSpPr/>
          <p:nvPr/>
        </p:nvSpPr>
        <p:spPr>
          <a:xfrm>
            <a:off x="4611624" y="3867912"/>
            <a:ext cx="566928" cy="566928"/>
          </a:xfrm>
          <a:prstGeom prst="ellipse">
            <a:avLst/>
          </a:prstGeom>
          <a:solidFill>
            <a:schemeClr val="accent4"/>
          </a:solidFill>
          <a:ln/>
        </p:spPr>
      </p:sp>
      <p:pic>
        <p:nvPicPr>
          <p:cNvPr id="25" name="icon-67" descr="preencoded.png">    </p:cNvPr>
          <p:cNvPicPr>
            <a:picLocks noChangeAspect="1"/>
          </p:cNvPicPr>
          <p:nvPr/>
        </p:nvPicPr>
        <p:blipFill>
          <a:blip r:embed="rId5"/>
          <a:stretch>
            <a:fillRect/>
          </a:stretch>
        </p:blipFill>
        <p:spPr>
          <a:xfrm>
            <a:off x="4764695" y="4020983"/>
            <a:ext cx="260787" cy="260787"/>
          </a:xfrm>
          <a:prstGeom prst="rect">
            <a:avLst/>
          </a:prstGeom>
        </p:spPr>
      </p:pic>
      <p:sp>
        <p:nvSpPr>
          <p:cNvPr id="26" name="text-68"/>
          <p:cNvSpPr txBox="1"/>
          <p:nvPr/>
        </p:nvSpPr>
        <p:spPr>
          <a:xfrm>
            <a:off x="4611624" y="4581144"/>
            <a:ext cx="2965704" cy="320040"/>
          </a:xfrm>
          <a:prstGeom prst="rect">
            <a:avLst/>
          </a:prstGeom>
          <a:noFill/>
          <a:ln/>
        </p:spPr>
        <p:txBody>
          <a:bodyPr wrap="square" lIns="0" tIns="0" rIns="0" bIns="0" rtlCol="0" anchor="t"/>
          <a:lstStyle/>
          <a:p>
            <a:pPr indent="0" marL="0">
              <a:buNone/>
            </a:pPr>
            <a:r>
              <a:rPr lang="en-US" sz="1800" b="1" dirty="0">
                <a:solidFill>
                  <a:schemeClr val="tx1"/>
                </a:solidFill>
              </a:rPr>
              <a:t>Weak security</a:t>
            </a:r>
            <a:endParaRPr lang="en-US" sz="1800" dirty="0"/>
          </a:p>
        </p:txBody>
      </p:sp>
      <p:sp>
        <p:nvSpPr>
          <p:cNvPr id="27" name="text-69"/>
          <p:cNvSpPr txBox="1"/>
          <p:nvPr/>
        </p:nvSpPr>
        <p:spPr>
          <a:xfrm>
            <a:off x="4611624" y="493776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Shared files and chats are not user-specific</a:t>
            </a:r>
            <a:endParaRPr lang="en-US" sz="1400" dirty="0"/>
          </a:p>
        </p:txBody>
      </p:sp>
      <p:sp>
        <p:nvSpPr>
          <p:cNvPr id="28" name="card-70"/>
          <p:cNvSpPr/>
          <p:nvPr/>
        </p:nvSpPr>
        <p:spPr>
          <a:xfrm>
            <a:off x="8125968" y="3611880"/>
            <a:ext cx="3514344" cy="2011680"/>
          </a:xfrm>
          <a:prstGeom prst="roundRect">
            <a:avLst>
              <a:gd name="adj" fmla="val 5455"/>
            </a:avLst>
          </a:prstGeom>
          <a:solidFill>
            <a:schemeClr val="bg2"/>
          </a:solidFill>
          <a:ln/>
        </p:spPr>
      </p:sp>
      <p:sp>
        <p:nvSpPr>
          <p:cNvPr id="29" name="iconbg-71"/>
          <p:cNvSpPr/>
          <p:nvPr/>
        </p:nvSpPr>
        <p:spPr>
          <a:xfrm>
            <a:off x="8400288" y="3867912"/>
            <a:ext cx="566928" cy="566928"/>
          </a:xfrm>
          <a:prstGeom prst="ellipse">
            <a:avLst/>
          </a:prstGeom>
          <a:solidFill>
            <a:schemeClr val="accent4"/>
          </a:solidFill>
          <a:ln/>
        </p:spPr>
      </p:sp>
      <p:pic>
        <p:nvPicPr>
          <p:cNvPr id="30" name="icon-72" descr="preencoded.png">    </p:cNvPr>
          <p:cNvPicPr>
            <a:picLocks noChangeAspect="1"/>
          </p:cNvPicPr>
          <p:nvPr/>
        </p:nvPicPr>
        <p:blipFill>
          <a:blip r:embed="rId6"/>
          <a:stretch>
            <a:fillRect/>
          </a:stretch>
        </p:blipFill>
        <p:spPr>
          <a:xfrm>
            <a:off x="8553359" y="4020983"/>
            <a:ext cx="260787" cy="260787"/>
          </a:xfrm>
          <a:prstGeom prst="rect">
            <a:avLst/>
          </a:prstGeom>
        </p:spPr>
      </p:pic>
      <p:sp>
        <p:nvSpPr>
          <p:cNvPr id="31" name="text-73"/>
          <p:cNvSpPr txBox="1"/>
          <p:nvPr/>
        </p:nvSpPr>
        <p:spPr>
          <a:xfrm>
            <a:off x="8400288" y="4581144"/>
            <a:ext cx="2965704" cy="320040"/>
          </a:xfrm>
          <a:prstGeom prst="rect">
            <a:avLst/>
          </a:prstGeom>
          <a:noFill/>
          <a:ln/>
        </p:spPr>
        <p:txBody>
          <a:bodyPr wrap="square" lIns="0" tIns="0" rIns="0" bIns="0" rtlCol="0" anchor="t"/>
          <a:lstStyle/>
          <a:p>
            <a:pPr indent="0" marL="0">
              <a:buNone/>
            </a:pPr>
            <a:r>
              <a:rPr lang="en-US" sz="1800" b="1" dirty="0">
                <a:solidFill>
                  <a:schemeClr val="tx1"/>
                </a:solidFill>
              </a:rPr>
              <a:t>Complex or paid tools</a:t>
            </a:r>
            <a:endParaRPr lang="en-US" sz="1800" dirty="0"/>
          </a:p>
        </p:txBody>
      </p:sp>
      <p:sp>
        <p:nvSpPr>
          <p:cNvPr id="32" name="text-74"/>
          <p:cNvSpPr txBox="1"/>
          <p:nvPr/>
        </p:nvSpPr>
        <p:spPr>
          <a:xfrm>
            <a:off x="8400288" y="493776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Full project tools are heavy for personal needs</a:t>
            </a:r>
            <a:endParaRPr lang="en-US" sz="1400" dirty="0"/>
          </a:p>
        </p:txBody>
      </p:sp>
      <p:sp>
        <p:nvSpPr>
          <p:cNvPr id="33" name="card-75"/>
          <p:cNvSpPr/>
          <p:nvPr/>
        </p:nvSpPr>
        <p:spPr>
          <a:xfrm>
            <a:off x="548640" y="5852160"/>
            <a:ext cx="11091672" cy="548640"/>
          </a:xfrm>
          <a:prstGeom prst="roundRect">
            <a:avLst>
              <a:gd name="adj" fmla="val 20000"/>
            </a:avLst>
          </a:prstGeom>
          <a:solidFill>
            <a:schemeClr val="tx1"/>
          </a:solidFill>
          <a:ln/>
        </p:spPr>
      </p:sp>
      <p:sp>
        <p:nvSpPr>
          <p:cNvPr id="34" name="text-76"/>
          <p:cNvSpPr txBox="1"/>
          <p:nvPr/>
        </p:nvSpPr>
        <p:spPr>
          <a:xfrm>
            <a:off x="548640" y="5852160"/>
            <a:ext cx="11091672" cy="548640"/>
          </a:xfrm>
          <a:prstGeom prst="rect">
            <a:avLst/>
          </a:prstGeom>
          <a:noFill/>
          <a:ln/>
        </p:spPr>
        <p:txBody>
          <a:bodyPr wrap="square" lIns="0" tIns="0" rIns="0" bIns="0" rtlCol="0" anchor="ctr"/>
          <a:lstStyle/>
          <a:p>
            <a:pPr algn="ctr" indent="0" marL="0">
              <a:buNone/>
            </a:pPr>
            <a:r>
              <a:rPr lang="en-US" sz="1600" b="1" dirty="0">
                <a:solidFill>
                  <a:schemeClr val="bg1"/>
                </a:solidFill>
              </a:rPr>
              <a:t>The need: one centralised, secure and intelligent task management system</a:t>
            </a:r>
            <a:endParaRPr lang="en-US" sz="1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Proposed system and objectives</a:t>
            </a:r>
            <a:endParaRPr lang="en-US" sz="3400" dirty="0"/>
          </a:p>
        </p:txBody>
      </p:sp>
      <p:sp>
        <p:nvSpPr>
          <p:cNvPr id="3" name="card-77"/>
          <p:cNvSpPr/>
          <p:nvPr/>
        </p:nvSpPr>
        <p:spPr>
          <a:xfrm>
            <a:off x="548640" y="1371600"/>
            <a:ext cx="3246120" cy="1417320"/>
          </a:xfrm>
          <a:prstGeom prst="roundRect">
            <a:avLst>
              <a:gd name="adj" fmla="val 7742"/>
            </a:avLst>
          </a:prstGeom>
          <a:solidFill>
            <a:schemeClr val="bg2"/>
          </a:solidFill>
          <a:ln/>
        </p:spPr>
      </p:sp>
      <p:sp>
        <p:nvSpPr>
          <p:cNvPr id="4" name="iconbg-78"/>
          <p:cNvSpPr/>
          <p:nvPr/>
        </p:nvSpPr>
        <p:spPr>
          <a:xfrm>
            <a:off x="749808" y="1600200"/>
            <a:ext cx="530352" cy="530352"/>
          </a:xfrm>
          <a:prstGeom prst="ellipse">
            <a:avLst/>
          </a:prstGeom>
          <a:solidFill>
            <a:schemeClr val="accent1"/>
          </a:solidFill>
          <a:ln/>
        </p:spPr>
      </p:sp>
      <p:pic>
        <p:nvPicPr>
          <p:cNvPr id="5" name="icon-79" descr="preencoded.png">    </p:cNvPr>
          <p:cNvPicPr>
            <a:picLocks noChangeAspect="1"/>
          </p:cNvPicPr>
          <p:nvPr/>
        </p:nvPicPr>
        <p:blipFill>
          <a:blip r:embed="rId1"/>
          <a:stretch>
            <a:fillRect/>
          </a:stretch>
        </p:blipFill>
        <p:spPr>
          <a:xfrm>
            <a:off x="893003" y="1743395"/>
            <a:ext cx="243962" cy="243962"/>
          </a:xfrm>
          <a:prstGeom prst="rect">
            <a:avLst/>
          </a:prstGeom>
        </p:spPr>
      </p:pic>
      <p:sp>
        <p:nvSpPr>
          <p:cNvPr id="6" name="text-80"/>
          <p:cNvSpPr txBox="1"/>
          <p:nvPr/>
        </p:nvSpPr>
        <p:spPr>
          <a:xfrm>
            <a:off x="1417320" y="1572768"/>
            <a:ext cx="2286000" cy="292608"/>
          </a:xfrm>
          <a:prstGeom prst="rect">
            <a:avLst/>
          </a:prstGeom>
          <a:noFill/>
          <a:ln/>
        </p:spPr>
        <p:txBody>
          <a:bodyPr wrap="square" lIns="0" tIns="0" rIns="0" bIns="0" rtlCol="0" anchor="t"/>
          <a:lstStyle/>
          <a:p>
            <a:pPr indent="0" marL="0">
              <a:buNone/>
            </a:pPr>
            <a:r>
              <a:rPr lang="en-US" sz="1600" b="1" dirty="0">
                <a:solidFill>
                  <a:schemeClr val="tx1"/>
                </a:solidFill>
              </a:rPr>
              <a:t>Centralised data</a:t>
            </a:r>
            <a:endParaRPr lang="en-US" sz="1600" dirty="0"/>
          </a:p>
        </p:txBody>
      </p:sp>
      <p:sp>
        <p:nvSpPr>
          <p:cNvPr id="7" name="text-81"/>
          <p:cNvSpPr txBox="1"/>
          <p:nvPr/>
        </p:nvSpPr>
        <p:spPr>
          <a:xfrm>
            <a:off x="1417320" y="1920240"/>
            <a:ext cx="2286000" cy="731520"/>
          </a:xfrm>
          <a:prstGeom prst="rect">
            <a:avLst/>
          </a:prstGeom>
          <a:noFill/>
          <a:ln/>
        </p:spPr>
        <p:txBody>
          <a:bodyPr wrap="square" lIns="0" tIns="0" rIns="0" bIns="0" rtlCol="0" anchor="t"/>
          <a:lstStyle/>
          <a:p>
            <a:pPr indent="0" marL="0">
              <a:buNone/>
            </a:pPr>
            <a:r>
              <a:rPr lang="en-US" sz="1400" dirty="0">
                <a:solidFill>
                  <a:schemeClr val="accent6"/>
                </a:solidFill>
              </a:rPr>
              <a:t>Tasks stored per user in MongoDB</a:t>
            </a:r>
            <a:endParaRPr lang="en-US" sz="1400" dirty="0"/>
          </a:p>
        </p:txBody>
      </p:sp>
      <p:sp>
        <p:nvSpPr>
          <p:cNvPr id="8" name="card-82"/>
          <p:cNvSpPr/>
          <p:nvPr/>
        </p:nvSpPr>
        <p:spPr>
          <a:xfrm>
            <a:off x="3977640" y="1371600"/>
            <a:ext cx="3246120" cy="1417320"/>
          </a:xfrm>
          <a:prstGeom prst="roundRect">
            <a:avLst>
              <a:gd name="adj" fmla="val 7742"/>
            </a:avLst>
          </a:prstGeom>
          <a:solidFill>
            <a:schemeClr val="bg2"/>
          </a:solidFill>
          <a:ln/>
        </p:spPr>
      </p:sp>
      <p:sp>
        <p:nvSpPr>
          <p:cNvPr id="9" name="iconbg-83"/>
          <p:cNvSpPr/>
          <p:nvPr/>
        </p:nvSpPr>
        <p:spPr>
          <a:xfrm>
            <a:off x="4178808" y="1600200"/>
            <a:ext cx="530352" cy="530352"/>
          </a:xfrm>
          <a:prstGeom prst="ellipse">
            <a:avLst/>
          </a:prstGeom>
          <a:solidFill>
            <a:schemeClr val="accent1"/>
          </a:solidFill>
          <a:ln/>
        </p:spPr>
      </p:sp>
      <p:pic>
        <p:nvPicPr>
          <p:cNvPr id="10" name="icon-84" descr="preencoded.png">    </p:cNvPr>
          <p:cNvPicPr>
            <a:picLocks noChangeAspect="1"/>
          </p:cNvPicPr>
          <p:nvPr/>
        </p:nvPicPr>
        <p:blipFill>
          <a:blip r:embed="rId2"/>
          <a:stretch>
            <a:fillRect/>
          </a:stretch>
        </p:blipFill>
        <p:spPr>
          <a:xfrm>
            <a:off x="4322003" y="1743395"/>
            <a:ext cx="243962" cy="243962"/>
          </a:xfrm>
          <a:prstGeom prst="rect">
            <a:avLst/>
          </a:prstGeom>
        </p:spPr>
      </p:pic>
      <p:sp>
        <p:nvSpPr>
          <p:cNvPr id="11" name="text-85"/>
          <p:cNvSpPr txBox="1"/>
          <p:nvPr/>
        </p:nvSpPr>
        <p:spPr>
          <a:xfrm>
            <a:off x="4846320" y="1572768"/>
            <a:ext cx="2286000" cy="292608"/>
          </a:xfrm>
          <a:prstGeom prst="rect">
            <a:avLst/>
          </a:prstGeom>
          <a:noFill/>
          <a:ln/>
        </p:spPr>
        <p:txBody>
          <a:bodyPr wrap="square" lIns="0" tIns="0" rIns="0" bIns="0" rtlCol="0" anchor="t"/>
          <a:lstStyle/>
          <a:p>
            <a:pPr indent="0" marL="0">
              <a:buNone/>
            </a:pPr>
            <a:r>
              <a:rPr lang="en-US" sz="1600" b="1" dirty="0">
                <a:solidFill>
                  <a:schemeClr val="tx1"/>
                </a:solidFill>
              </a:rPr>
              <a:t>Secure access</a:t>
            </a:r>
            <a:endParaRPr lang="en-US" sz="1600" dirty="0"/>
          </a:p>
        </p:txBody>
      </p:sp>
      <p:sp>
        <p:nvSpPr>
          <p:cNvPr id="12" name="text-86"/>
          <p:cNvSpPr txBox="1"/>
          <p:nvPr/>
        </p:nvSpPr>
        <p:spPr>
          <a:xfrm>
            <a:off x="4846320" y="1920240"/>
            <a:ext cx="2286000" cy="731520"/>
          </a:xfrm>
          <a:prstGeom prst="rect">
            <a:avLst/>
          </a:prstGeom>
          <a:noFill/>
          <a:ln/>
        </p:spPr>
        <p:txBody>
          <a:bodyPr wrap="square" lIns="0" tIns="0" rIns="0" bIns="0" rtlCol="0" anchor="t"/>
          <a:lstStyle/>
          <a:p>
            <a:pPr indent="0" marL="0">
              <a:buNone/>
            </a:pPr>
            <a:r>
              <a:rPr lang="en-US" sz="1400" dirty="0">
                <a:solidFill>
                  <a:schemeClr val="accent6"/>
                </a:solidFill>
              </a:rPr>
              <a:t>Hashed passwords, JWT on every request</a:t>
            </a:r>
            <a:endParaRPr lang="en-US" sz="1400" dirty="0"/>
          </a:p>
        </p:txBody>
      </p:sp>
      <p:sp>
        <p:nvSpPr>
          <p:cNvPr id="13" name="card-87"/>
          <p:cNvSpPr/>
          <p:nvPr/>
        </p:nvSpPr>
        <p:spPr>
          <a:xfrm>
            <a:off x="548640" y="2971800"/>
            <a:ext cx="3246120" cy="1417320"/>
          </a:xfrm>
          <a:prstGeom prst="roundRect">
            <a:avLst>
              <a:gd name="adj" fmla="val 7742"/>
            </a:avLst>
          </a:prstGeom>
          <a:solidFill>
            <a:schemeClr val="bg2"/>
          </a:solidFill>
          <a:ln/>
        </p:spPr>
      </p:sp>
      <p:sp>
        <p:nvSpPr>
          <p:cNvPr id="14" name="iconbg-88"/>
          <p:cNvSpPr/>
          <p:nvPr/>
        </p:nvSpPr>
        <p:spPr>
          <a:xfrm>
            <a:off x="749808" y="3200400"/>
            <a:ext cx="530352" cy="530352"/>
          </a:xfrm>
          <a:prstGeom prst="ellipse">
            <a:avLst/>
          </a:prstGeom>
          <a:solidFill>
            <a:schemeClr val="accent1"/>
          </a:solidFill>
          <a:ln/>
        </p:spPr>
      </p:sp>
      <p:pic>
        <p:nvPicPr>
          <p:cNvPr id="15" name="icon-89" descr="preencoded.png">    </p:cNvPr>
          <p:cNvPicPr>
            <a:picLocks noChangeAspect="1"/>
          </p:cNvPicPr>
          <p:nvPr/>
        </p:nvPicPr>
        <p:blipFill>
          <a:blip r:embed="rId3"/>
          <a:stretch>
            <a:fillRect/>
          </a:stretch>
        </p:blipFill>
        <p:spPr>
          <a:xfrm>
            <a:off x="893003" y="3343595"/>
            <a:ext cx="243962" cy="243962"/>
          </a:xfrm>
          <a:prstGeom prst="rect">
            <a:avLst/>
          </a:prstGeom>
        </p:spPr>
      </p:pic>
      <p:sp>
        <p:nvSpPr>
          <p:cNvPr id="16" name="text-90"/>
          <p:cNvSpPr txBox="1"/>
          <p:nvPr/>
        </p:nvSpPr>
        <p:spPr>
          <a:xfrm>
            <a:off x="1417320" y="3172968"/>
            <a:ext cx="2286000" cy="292608"/>
          </a:xfrm>
          <a:prstGeom prst="rect">
            <a:avLst/>
          </a:prstGeom>
          <a:noFill/>
          <a:ln/>
        </p:spPr>
        <p:txBody>
          <a:bodyPr wrap="square" lIns="0" tIns="0" rIns="0" bIns="0" rtlCol="0" anchor="t"/>
          <a:lstStyle/>
          <a:p>
            <a:pPr indent="0" marL="0">
              <a:buNone/>
            </a:pPr>
            <a:r>
              <a:rPr lang="en-US" sz="1600" b="1" dirty="0">
                <a:solidFill>
                  <a:schemeClr val="tx1"/>
                </a:solidFill>
              </a:rPr>
              <a:t>Task management</a:t>
            </a:r>
            <a:endParaRPr lang="en-US" sz="1600" dirty="0"/>
          </a:p>
        </p:txBody>
      </p:sp>
      <p:sp>
        <p:nvSpPr>
          <p:cNvPr id="17" name="text-91"/>
          <p:cNvSpPr txBox="1"/>
          <p:nvPr/>
        </p:nvSpPr>
        <p:spPr>
          <a:xfrm>
            <a:off x="1417320" y="3520440"/>
            <a:ext cx="2286000" cy="731520"/>
          </a:xfrm>
          <a:prstGeom prst="rect">
            <a:avLst/>
          </a:prstGeom>
          <a:noFill/>
          <a:ln/>
        </p:spPr>
        <p:txBody>
          <a:bodyPr wrap="square" lIns="0" tIns="0" rIns="0" bIns="0" rtlCol="0" anchor="t"/>
          <a:lstStyle/>
          <a:p>
            <a:pPr indent="0" marL="0">
              <a:buNone/>
            </a:pPr>
            <a:r>
              <a:rPr lang="en-US" sz="1400" dirty="0">
                <a:solidFill>
                  <a:schemeClr val="accent6"/>
                </a:solidFill>
              </a:rPr>
              <a:t>Create, edit, complete, search, filter</a:t>
            </a:r>
            <a:endParaRPr lang="en-US" sz="1400" dirty="0"/>
          </a:p>
        </p:txBody>
      </p:sp>
      <p:sp>
        <p:nvSpPr>
          <p:cNvPr id="18" name="card-92"/>
          <p:cNvSpPr/>
          <p:nvPr/>
        </p:nvSpPr>
        <p:spPr>
          <a:xfrm>
            <a:off x="3977640" y="2971800"/>
            <a:ext cx="3246120" cy="1417320"/>
          </a:xfrm>
          <a:prstGeom prst="roundRect">
            <a:avLst>
              <a:gd name="adj" fmla="val 7742"/>
            </a:avLst>
          </a:prstGeom>
          <a:solidFill>
            <a:schemeClr val="bg2"/>
          </a:solidFill>
          <a:ln/>
        </p:spPr>
      </p:sp>
      <p:sp>
        <p:nvSpPr>
          <p:cNvPr id="19" name="iconbg-93"/>
          <p:cNvSpPr/>
          <p:nvPr/>
        </p:nvSpPr>
        <p:spPr>
          <a:xfrm>
            <a:off x="4178808" y="3200400"/>
            <a:ext cx="530352" cy="530352"/>
          </a:xfrm>
          <a:prstGeom prst="ellipse">
            <a:avLst/>
          </a:prstGeom>
          <a:solidFill>
            <a:schemeClr val="accent1"/>
          </a:solidFill>
          <a:ln/>
        </p:spPr>
      </p:sp>
      <p:pic>
        <p:nvPicPr>
          <p:cNvPr id="20" name="icon-94" descr="preencoded.png">    </p:cNvPr>
          <p:cNvPicPr>
            <a:picLocks noChangeAspect="1"/>
          </p:cNvPicPr>
          <p:nvPr/>
        </p:nvPicPr>
        <p:blipFill>
          <a:blip r:embed="rId4"/>
          <a:stretch>
            <a:fillRect/>
          </a:stretch>
        </p:blipFill>
        <p:spPr>
          <a:xfrm>
            <a:off x="4322003" y="3343595"/>
            <a:ext cx="243962" cy="243962"/>
          </a:xfrm>
          <a:prstGeom prst="rect">
            <a:avLst/>
          </a:prstGeom>
        </p:spPr>
      </p:pic>
      <p:sp>
        <p:nvSpPr>
          <p:cNvPr id="21" name="text-95"/>
          <p:cNvSpPr txBox="1"/>
          <p:nvPr/>
        </p:nvSpPr>
        <p:spPr>
          <a:xfrm>
            <a:off x="4846320" y="3172968"/>
            <a:ext cx="2286000" cy="292608"/>
          </a:xfrm>
          <a:prstGeom prst="rect">
            <a:avLst/>
          </a:prstGeom>
          <a:noFill/>
          <a:ln/>
        </p:spPr>
        <p:txBody>
          <a:bodyPr wrap="square" lIns="0" tIns="0" rIns="0" bIns="0" rtlCol="0" anchor="t"/>
          <a:lstStyle/>
          <a:p>
            <a:pPr indent="0" marL="0">
              <a:buNone/>
            </a:pPr>
            <a:r>
              <a:rPr lang="en-US" sz="1600" b="1" dirty="0">
                <a:solidFill>
                  <a:schemeClr val="tx1"/>
                </a:solidFill>
              </a:rPr>
              <a:t>Smart suggestions</a:t>
            </a:r>
            <a:endParaRPr lang="en-US" sz="1600" dirty="0"/>
          </a:p>
        </p:txBody>
      </p:sp>
      <p:sp>
        <p:nvSpPr>
          <p:cNvPr id="22" name="text-96"/>
          <p:cNvSpPr txBox="1"/>
          <p:nvPr/>
        </p:nvSpPr>
        <p:spPr>
          <a:xfrm>
            <a:off x="4846320" y="3520440"/>
            <a:ext cx="2286000" cy="731520"/>
          </a:xfrm>
          <a:prstGeom prst="rect">
            <a:avLst/>
          </a:prstGeom>
          <a:noFill/>
          <a:ln/>
        </p:spPr>
        <p:txBody>
          <a:bodyPr wrap="square" lIns="0" tIns="0" rIns="0" bIns="0" rtlCol="0" anchor="t"/>
          <a:lstStyle/>
          <a:p>
            <a:pPr indent="0" marL="0">
              <a:buNone/>
            </a:pPr>
            <a:r>
              <a:rPr lang="en-US" sz="1400" dirty="0">
                <a:solidFill>
                  <a:schemeClr val="accent6"/>
                </a:solidFill>
              </a:rPr>
              <a:t>Priority score ranks pending tasks</a:t>
            </a:r>
            <a:endParaRPr lang="en-US" sz="1400" dirty="0"/>
          </a:p>
        </p:txBody>
      </p:sp>
      <p:sp>
        <p:nvSpPr>
          <p:cNvPr id="23" name="card-97"/>
          <p:cNvSpPr/>
          <p:nvPr/>
        </p:nvSpPr>
        <p:spPr>
          <a:xfrm>
            <a:off x="548640" y="4572000"/>
            <a:ext cx="3246120" cy="1417320"/>
          </a:xfrm>
          <a:prstGeom prst="roundRect">
            <a:avLst>
              <a:gd name="adj" fmla="val 7742"/>
            </a:avLst>
          </a:prstGeom>
          <a:solidFill>
            <a:schemeClr val="bg2"/>
          </a:solidFill>
          <a:ln/>
        </p:spPr>
      </p:sp>
      <p:sp>
        <p:nvSpPr>
          <p:cNvPr id="24" name="iconbg-98"/>
          <p:cNvSpPr/>
          <p:nvPr/>
        </p:nvSpPr>
        <p:spPr>
          <a:xfrm>
            <a:off x="749808" y="4800600"/>
            <a:ext cx="530352" cy="530352"/>
          </a:xfrm>
          <a:prstGeom prst="ellipse">
            <a:avLst/>
          </a:prstGeom>
          <a:solidFill>
            <a:schemeClr val="accent1"/>
          </a:solidFill>
          <a:ln/>
        </p:spPr>
      </p:sp>
      <p:pic>
        <p:nvPicPr>
          <p:cNvPr id="25" name="icon-99" descr="preencoded.png">    </p:cNvPr>
          <p:cNvPicPr>
            <a:picLocks noChangeAspect="1"/>
          </p:cNvPicPr>
          <p:nvPr/>
        </p:nvPicPr>
        <p:blipFill>
          <a:blip r:embed="rId5"/>
          <a:stretch>
            <a:fillRect/>
          </a:stretch>
        </p:blipFill>
        <p:spPr>
          <a:xfrm>
            <a:off x="893003" y="4943795"/>
            <a:ext cx="243962" cy="243962"/>
          </a:xfrm>
          <a:prstGeom prst="rect">
            <a:avLst/>
          </a:prstGeom>
        </p:spPr>
      </p:pic>
      <p:sp>
        <p:nvSpPr>
          <p:cNvPr id="26" name="text-100"/>
          <p:cNvSpPr txBox="1"/>
          <p:nvPr/>
        </p:nvSpPr>
        <p:spPr>
          <a:xfrm>
            <a:off x="1417320" y="4773168"/>
            <a:ext cx="2286000" cy="292608"/>
          </a:xfrm>
          <a:prstGeom prst="rect">
            <a:avLst/>
          </a:prstGeom>
          <a:noFill/>
          <a:ln/>
        </p:spPr>
        <p:txBody>
          <a:bodyPr wrap="square" lIns="0" tIns="0" rIns="0" bIns="0" rtlCol="0" anchor="t"/>
          <a:lstStyle/>
          <a:p>
            <a:pPr indent="0" marL="0">
              <a:buNone/>
            </a:pPr>
            <a:r>
              <a:rPr lang="en-US" sz="1600" b="1" dirty="0">
                <a:solidFill>
                  <a:schemeClr val="tx1"/>
                </a:solidFill>
              </a:rPr>
              <a:t>Reminders</a:t>
            </a:r>
            <a:endParaRPr lang="en-US" sz="1600" dirty="0"/>
          </a:p>
        </p:txBody>
      </p:sp>
      <p:sp>
        <p:nvSpPr>
          <p:cNvPr id="27" name="text-101"/>
          <p:cNvSpPr txBox="1"/>
          <p:nvPr/>
        </p:nvSpPr>
        <p:spPr>
          <a:xfrm>
            <a:off x="1417320" y="5120640"/>
            <a:ext cx="2286000" cy="731520"/>
          </a:xfrm>
          <a:prstGeom prst="rect">
            <a:avLst/>
          </a:prstGeom>
          <a:noFill/>
          <a:ln/>
        </p:spPr>
        <p:txBody>
          <a:bodyPr wrap="square" lIns="0" tIns="0" rIns="0" bIns="0" rtlCol="0" anchor="t"/>
          <a:lstStyle/>
          <a:p>
            <a:pPr indent="0" marL="0">
              <a:buNone/>
            </a:pPr>
            <a:r>
              <a:rPr lang="en-US" sz="1400" dirty="0">
                <a:solidFill>
                  <a:schemeClr val="accent6"/>
                </a:solidFill>
              </a:rPr>
              <a:t>Due-soon and overdue tasks highlighted</a:t>
            </a:r>
            <a:endParaRPr lang="en-US" sz="1400" dirty="0"/>
          </a:p>
        </p:txBody>
      </p:sp>
      <p:sp>
        <p:nvSpPr>
          <p:cNvPr id="28" name="card-102"/>
          <p:cNvSpPr/>
          <p:nvPr/>
        </p:nvSpPr>
        <p:spPr>
          <a:xfrm>
            <a:off x="3977640" y="4572000"/>
            <a:ext cx="3246120" cy="1417320"/>
          </a:xfrm>
          <a:prstGeom prst="roundRect">
            <a:avLst>
              <a:gd name="adj" fmla="val 7742"/>
            </a:avLst>
          </a:prstGeom>
          <a:solidFill>
            <a:schemeClr val="bg2"/>
          </a:solidFill>
          <a:ln/>
        </p:spPr>
      </p:sp>
      <p:sp>
        <p:nvSpPr>
          <p:cNvPr id="29" name="iconbg-103"/>
          <p:cNvSpPr/>
          <p:nvPr/>
        </p:nvSpPr>
        <p:spPr>
          <a:xfrm>
            <a:off x="4178808" y="4800600"/>
            <a:ext cx="530352" cy="530352"/>
          </a:xfrm>
          <a:prstGeom prst="ellipse">
            <a:avLst/>
          </a:prstGeom>
          <a:solidFill>
            <a:schemeClr val="accent1"/>
          </a:solidFill>
          <a:ln/>
        </p:spPr>
      </p:sp>
      <p:pic>
        <p:nvPicPr>
          <p:cNvPr id="30" name="icon-104" descr="preencoded.png">    </p:cNvPr>
          <p:cNvPicPr>
            <a:picLocks noChangeAspect="1"/>
          </p:cNvPicPr>
          <p:nvPr/>
        </p:nvPicPr>
        <p:blipFill>
          <a:blip r:embed="rId6"/>
          <a:stretch>
            <a:fillRect/>
          </a:stretch>
        </p:blipFill>
        <p:spPr>
          <a:xfrm>
            <a:off x="4322003" y="4943795"/>
            <a:ext cx="243962" cy="243962"/>
          </a:xfrm>
          <a:prstGeom prst="rect">
            <a:avLst/>
          </a:prstGeom>
        </p:spPr>
      </p:pic>
      <p:sp>
        <p:nvSpPr>
          <p:cNvPr id="31" name="text-105"/>
          <p:cNvSpPr txBox="1"/>
          <p:nvPr/>
        </p:nvSpPr>
        <p:spPr>
          <a:xfrm>
            <a:off x="4846320" y="4773168"/>
            <a:ext cx="2286000" cy="292608"/>
          </a:xfrm>
          <a:prstGeom prst="rect">
            <a:avLst/>
          </a:prstGeom>
          <a:noFill/>
          <a:ln/>
        </p:spPr>
        <p:txBody>
          <a:bodyPr wrap="square" lIns="0" tIns="0" rIns="0" bIns="0" rtlCol="0" anchor="t"/>
          <a:lstStyle/>
          <a:p>
            <a:pPr indent="0" marL="0">
              <a:buNone/>
            </a:pPr>
            <a:r>
              <a:rPr lang="en-US" sz="1600" b="1" dirty="0">
                <a:solidFill>
                  <a:schemeClr val="tx1"/>
                </a:solidFill>
              </a:rPr>
              <a:t>Dashboard</a:t>
            </a:r>
            <a:endParaRPr lang="en-US" sz="1600" dirty="0"/>
          </a:p>
        </p:txBody>
      </p:sp>
      <p:sp>
        <p:nvSpPr>
          <p:cNvPr id="32" name="text-106"/>
          <p:cNvSpPr txBox="1"/>
          <p:nvPr/>
        </p:nvSpPr>
        <p:spPr>
          <a:xfrm>
            <a:off x="4846320" y="5120640"/>
            <a:ext cx="2286000" cy="731520"/>
          </a:xfrm>
          <a:prstGeom prst="rect">
            <a:avLst/>
          </a:prstGeom>
          <a:noFill/>
          <a:ln/>
        </p:spPr>
        <p:txBody>
          <a:bodyPr wrap="square" lIns="0" tIns="0" rIns="0" bIns="0" rtlCol="0" anchor="t"/>
          <a:lstStyle/>
          <a:p>
            <a:pPr indent="0" marL="0">
              <a:buNone/>
            </a:pPr>
            <a:r>
              <a:rPr lang="en-US" sz="1400" dirty="0">
                <a:solidFill>
                  <a:schemeClr val="accent6"/>
                </a:solidFill>
              </a:rPr>
              <a:t>Totals and completion rate at a glance</a:t>
            </a:r>
            <a:endParaRPr lang="en-US" sz="1400" dirty="0"/>
          </a:p>
        </p:txBody>
      </p:sp>
      <p:sp>
        <p:nvSpPr>
          <p:cNvPr id="33" name="card-107"/>
          <p:cNvSpPr/>
          <p:nvPr/>
        </p:nvSpPr>
        <p:spPr>
          <a:xfrm>
            <a:off x="7498080" y="1371600"/>
            <a:ext cx="4142232" cy="4617720"/>
          </a:xfrm>
          <a:prstGeom prst="roundRect">
            <a:avLst>
              <a:gd name="adj" fmla="val 2649"/>
            </a:avLst>
          </a:prstGeom>
          <a:solidFill>
            <a:schemeClr val="tx1"/>
          </a:solidFill>
          <a:ln/>
        </p:spPr>
      </p:sp>
      <p:sp>
        <p:nvSpPr>
          <p:cNvPr id="34" name="iconbg-108"/>
          <p:cNvSpPr/>
          <p:nvPr/>
        </p:nvSpPr>
        <p:spPr>
          <a:xfrm>
            <a:off x="7772400" y="1600200"/>
            <a:ext cx="548640" cy="548640"/>
          </a:xfrm>
          <a:prstGeom prst="ellipse">
            <a:avLst/>
          </a:prstGeom>
          <a:solidFill>
            <a:schemeClr val="accent2"/>
          </a:solidFill>
          <a:ln/>
        </p:spPr>
      </p:sp>
      <p:pic>
        <p:nvPicPr>
          <p:cNvPr id="35" name="icon-109" descr="preencoded.png">    </p:cNvPr>
          <p:cNvPicPr>
            <a:picLocks noChangeAspect="1"/>
          </p:cNvPicPr>
          <p:nvPr/>
        </p:nvPicPr>
        <p:blipFill>
          <a:blip r:embed="rId7"/>
          <a:stretch>
            <a:fillRect/>
          </a:stretch>
        </p:blipFill>
        <p:spPr>
          <a:xfrm>
            <a:off x="7920533" y="1748333"/>
            <a:ext cx="252374" cy="252374"/>
          </a:xfrm>
          <a:prstGeom prst="rect">
            <a:avLst/>
          </a:prstGeom>
        </p:spPr>
      </p:pic>
      <p:sp>
        <p:nvSpPr>
          <p:cNvPr id="36" name="text-110"/>
          <p:cNvSpPr txBox="1"/>
          <p:nvPr/>
        </p:nvSpPr>
        <p:spPr>
          <a:xfrm>
            <a:off x="8503920" y="1627632"/>
            <a:ext cx="2926080" cy="50292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Objectives</a:t>
            </a:r>
            <a:endParaRPr lang="en-US" sz="2400" dirty="0"/>
          </a:p>
        </p:txBody>
      </p:sp>
      <p:sp>
        <p:nvSpPr>
          <p:cNvPr id="37" name="objectives-111"/>
          <p:cNvSpPr txBox="1"/>
          <p:nvPr/>
        </p:nvSpPr>
        <p:spPr>
          <a:xfrm>
            <a:off x="7772400" y="2423160"/>
            <a:ext cx="361188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Build a full stack app from requirements to deployment</a:t>
            </a:r>
            <a:endParaRPr lang="en-US" sz="1500" dirty="0"/>
          </a:p>
          <a:p>
            <a:pPr marL="342900" indent="-342900">
              <a:spcAft>
                <a:spcPts val="800"/>
              </a:spcAft>
              <a:buSzPct val="100000"/>
              <a:buChar char="•"/>
            </a:pPr>
            <a:r>
              <a:rPr lang="en-US" sz="1500" dirty="0">
                <a:solidFill>
                  <a:schemeClr val="bg1"/>
                </a:solidFill>
              </a:rPr>
              <a:t>Develop REST APIs with CRUD using Node.js and Express</a:t>
            </a:r>
            <a:endParaRPr lang="en-US" sz="1500" dirty="0"/>
          </a:p>
          <a:p>
            <a:pPr marL="342900" indent="-342900">
              <a:spcAft>
                <a:spcPts val="800"/>
              </a:spcAft>
              <a:buSzPct val="100000"/>
              <a:buChar char="•"/>
            </a:pPr>
            <a:r>
              <a:rPr lang="en-US" sz="1500" dirty="0">
                <a:solidFill>
                  <a:schemeClr val="bg1"/>
                </a:solidFill>
              </a:rPr>
              <a:t>Secure user data with JWT and password hashing</a:t>
            </a:r>
            <a:endParaRPr lang="en-US" sz="1500" dirty="0"/>
          </a:p>
          <a:p>
            <a:pPr marL="342900" indent="-342900">
              <a:spcAft>
                <a:spcPts val="800"/>
              </a:spcAft>
              <a:buSzPct val="100000"/>
              <a:buChar char="•"/>
            </a:pPr>
            <a:r>
              <a:rPr lang="en-US" sz="1500" dirty="0">
                <a:solidFill>
                  <a:schemeClr val="bg1"/>
                </a:solidFill>
              </a:rPr>
              <a:t>Give smart priority suggestions and deadline alerts</a:t>
            </a:r>
            <a:endParaRPr lang="en-US" sz="1500" dirty="0"/>
          </a:p>
          <a:p>
            <a:pPr marL="342900" indent="-342900">
              <a:buSzPct val="100000"/>
              <a:buChar char="•"/>
            </a:pPr>
            <a:r>
              <a:rPr lang="en-US" sz="1500" dirty="0">
                <a:solidFill>
                  <a:schemeClr val="bg1"/>
                </a:solidFill>
              </a:rPr>
              <a:t>Show task statistics on a dashboard</a:t>
            </a:r>
            <a:endParaRPr lang="en-US" sz="15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Technology stack</a:t>
            </a:r>
            <a:endParaRPr lang="en-US" sz="3400" dirty="0"/>
          </a:p>
        </p:txBody>
      </p:sp>
      <p:sp>
        <p:nvSpPr>
          <p:cNvPr id="3" name="card-112"/>
          <p:cNvSpPr/>
          <p:nvPr/>
        </p:nvSpPr>
        <p:spPr>
          <a:xfrm>
            <a:off x="548640" y="1371600"/>
            <a:ext cx="3514344" cy="1874520"/>
          </a:xfrm>
          <a:prstGeom prst="roundRect">
            <a:avLst>
              <a:gd name="adj" fmla="val 5854"/>
            </a:avLst>
          </a:prstGeom>
          <a:solidFill>
            <a:schemeClr val="bg2"/>
          </a:solidFill>
          <a:ln/>
        </p:spPr>
      </p:sp>
      <p:sp>
        <p:nvSpPr>
          <p:cNvPr id="4" name="iconbg-113"/>
          <p:cNvSpPr/>
          <p:nvPr/>
        </p:nvSpPr>
        <p:spPr>
          <a:xfrm>
            <a:off x="822960" y="1627632"/>
            <a:ext cx="566928" cy="566928"/>
          </a:xfrm>
          <a:prstGeom prst="ellipse">
            <a:avLst/>
          </a:prstGeom>
          <a:solidFill>
            <a:schemeClr val="accent3"/>
          </a:solidFill>
          <a:ln/>
        </p:spPr>
      </p:sp>
      <p:pic>
        <p:nvPicPr>
          <p:cNvPr id="5" name="icon-114" descr="preencoded.png">    </p:cNvPr>
          <p:cNvPicPr>
            <a:picLocks noChangeAspect="1"/>
          </p:cNvPicPr>
          <p:nvPr/>
        </p:nvPicPr>
        <p:blipFill>
          <a:blip r:embed="rId1"/>
          <a:stretch>
            <a:fillRect/>
          </a:stretch>
        </p:blipFill>
        <p:spPr>
          <a:xfrm>
            <a:off x="976031" y="1780703"/>
            <a:ext cx="260787" cy="260787"/>
          </a:xfrm>
          <a:prstGeom prst="rect">
            <a:avLst/>
          </a:prstGeom>
        </p:spPr>
      </p:pic>
      <p:sp>
        <p:nvSpPr>
          <p:cNvPr id="6" name="text-115"/>
          <p:cNvSpPr txBox="1"/>
          <p:nvPr/>
        </p:nvSpPr>
        <p:spPr>
          <a:xfrm>
            <a:off x="822960" y="2286000"/>
            <a:ext cx="2965704" cy="320040"/>
          </a:xfrm>
          <a:prstGeom prst="rect">
            <a:avLst/>
          </a:prstGeom>
          <a:noFill/>
          <a:ln/>
        </p:spPr>
        <p:txBody>
          <a:bodyPr wrap="square" lIns="0" tIns="0" rIns="0" bIns="0" rtlCol="0" anchor="t"/>
          <a:lstStyle/>
          <a:p>
            <a:pPr indent="0" marL="0">
              <a:buNone/>
            </a:pPr>
            <a:r>
              <a:rPr lang="en-US" sz="1800" b="1" dirty="0">
                <a:solidFill>
                  <a:schemeClr val="tx1"/>
                </a:solidFill>
              </a:rPr>
              <a:t>Front end</a:t>
            </a:r>
            <a:endParaRPr lang="en-US" sz="1800" dirty="0"/>
          </a:p>
        </p:txBody>
      </p:sp>
      <p:sp>
        <p:nvSpPr>
          <p:cNvPr id="7" name="text-116"/>
          <p:cNvSpPr txBox="1"/>
          <p:nvPr/>
        </p:nvSpPr>
        <p:spPr>
          <a:xfrm>
            <a:off x="822960" y="2633472"/>
            <a:ext cx="2965704" cy="548640"/>
          </a:xfrm>
          <a:prstGeom prst="rect">
            <a:avLst/>
          </a:prstGeom>
          <a:noFill/>
          <a:ln/>
        </p:spPr>
        <p:txBody>
          <a:bodyPr wrap="square" lIns="0" tIns="0" rIns="0" bIns="0" rtlCol="0" anchor="t"/>
          <a:lstStyle/>
          <a:p>
            <a:pPr indent="0" marL="0">
              <a:buNone/>
            </a:pPr>
            <a:r>
              <a:rPr lang="en-US" sz="1400" dirty="0">
                <a:solidFill>
                  <a:schemeClr val="accent6"/>
                </a:solidFill>
              </a:rPr>
              <a:t>React, React Router, Axios, Tailwind CSS</a:t>
            </a:r>
            <a:endParaRPr lang="en-US" sz="1400" dirty="0"/>
          </a:p>
        </p:txBody>
      </p:sp>
      <p:sp>
        <p:nvSpPr>
          <p:cNvPr id="8" name="card-117"/>
          <p:cNvSpPr/>
          <p:nvPr/>
        </p:nvSpPr>
        <p:spPr>
          <a:xfrm>
            <a:off x="4337304" y="1371600"/>
            <a:ext cx="3514344" cy="1874520"/>
          </a:xfrm>
          <a:prstGeom prst="roundRect">
            <a:avLst>
              <a:gd name="adj" fmla="val 5854"/>
            </a:avLst>
          </a:prstGeom>
          <a:solidFill>
            <a:schemeClr val="bg2"/>
          </a:solidFill>
          <a:ln/>
        </p:spPr>
      </p:sp>
      <p:sp>
        <p:nvSpPr>
          <p:cNvPr id="9" name="iconbg-118"/>
          <p:cNvSpPr/>
          <p:nvPr/>
        </p:nvSpPr>
        <p:spPr>
          <a:xfrm>
            <a:off x="4611624" y="1627632"/>
            <a:ext cx="566928" cy="566928"/>
          </a:xfrm>
          <a:prstGeom prst="ellipse">
            <a:avLst/>
          </a:prstGeom>
          <a:solidFill>
            <a:schemeClr val="accent3"/>
          </a:solidFill>
          <a:ln/>
        </p:spPr>
      </p:sp>
      <p:pic>
        <p:nvPicPr>
          <p:cNvPr id="10" name="icon-119" descr="preencoded.png">    </p:cNvPr>
          <p:cNvPicPr>
            <a:picLocks noChangeAspect="1"/>
          </p:cNvPicPr>
          <p:nvPr/>
        </p:nvPicPr>
        <p:blipFill>
          <a:blip r:embed="rId2"/>
          <a:stretch>
            <a:fillRect/>
          </a:stretch>
        </p:blipFill>
        <p:spPr>
          <a:xfrm>
            <a:off x="4764695" y="1780703"/>
            <a:ext cx="260787" cy="260787"/>
          </a:xfrm>
          <a:prstGeom prst="rect">
            <a:avLst/>
          </a:prstGeom>
        </p:spPr>
      </p:pic>
      <p:sp>
        <p:nvSpPr>
          <p:cNvPr id="11" name="text-120"/>
          <p:cNvSpPr txBox="1"/>
          <p:nvPr/>
        </p:nvSpPr>
        <p:spPr>
          <a:xfrm>
            <a:off x="4611624" y="2286000"/>
            <a:ext cx="2965704" cy="320040"/>
          </a:xfrm>
          <a:prstGeom prst="rect">
            <a:avLst/>
          </a:prstGeom>
          <a:noFill/>
          <a:ln/>
        </p:spPr>
        <p:txBody>
          <a:bodyPr wrap="square" lIns="0" tIns="0" rIns="0" bIns="0" rtlCol="0" anchor="t"/>
          <a:lstStyle/>
          <a:p>
            <a:pPr indent="0" marL="0">
              <a:buNone/>
            </a:pPr>
            <a:r>
              <a:rPr lang="en-US" sz="1800" b="1" dirty="0">
                <a:solidFill>
                  <a:schemeClr val="tx1"/>
                </a:solidFill>
              </a:rPr>
              <a:t>Back end</a:t>
            </a:r>
            <a:endParaRPr lang="en-US" sz="1800" dirty="0"/>
          </a:p>
        </p:txBody>
      </p:sp>
      <p:sp>
        <p:nvSpPr>
          <p:cNvPr id="12" name="text-121"/>
          <p:cNvSpPr txBox="1"/>
          <p:nvPr/>
        </p:nvSpPr>
        <p:spPr>
          <a:xfrm>
            <a:off x="4611624" y="2633472"/>
            <a:ext cx="2965704" cy="548640"/>
          </a:xfrm>
          <a:prstGeom prst="rect">
            <a:avLst/>
          </a:prstGeom>
          <a:noFill/>
          <a:ln/>
        </p:spPr>
        <p:txBody>
          <a:bodyPr wrap="square" lIns="0" tIns="0" rIns="0" bIns="0" rtlCol="0" anchor="t"/>
          <a:lstStyle/>
          <a:p>
            <a:pPr indent="0" marL="0">
              <a:buNone/>
            </a:pPr>
            <a:r>
              <a:rPr lang="en-US" sz="1400" dirty="0">
                <a:solidFill>
                  <a:schemeClr val="accent6"/>
                </a:solidFill>
              </a:rPr>
              <a:t>Node.js, Express.js REST APIs</a:t>
            </a:r>
            <a:endParaRPr lang="en-US" sz="1400" dirty="0"/>
          </a:p>
        </p:txBody>
      </p:sp>
      <p:sp>
        <p:nvSpPr>
          <p:cNvPr id="13" name="card-122"/>
          <p:cNvSpPr/>
          <p:nvPr/>
        </p:nvSpPr>
        <p:spPr>
          <a:xfrm>
            <a:off x="8125968" y="1371600"/>
            <a:ext cx="3514344" cy="1874520"/>
          </a:xfrm>
          <a:prstGeom prst="roundRect">
            <a:avLst>
              <a:gd name="adj" fmla="val 5854"/>
            </a:avLst>
          </a:prstGeom>
          <a:solidFill>
            <a:schemeClr val="bg2"/>
          </a:solidFill>
          <a:ln/>
        </p:spPr>
      </p:sp>
      <p:sp>
        <p:nvSpPr>
          <p:cNvPr id="14" name="iconbg-123"/>
          <p:cNvSpPr/>
          <p:nvPr/>
        </p:nvSpPr>
        <p:spPr>
          <a:xfrm>
            <a:off x="8400288" y="1627632"/>
            <a:ext cx="566928" cy="566928"/>
          </a:xfrm>
          <a:prstGeom prst="ellipse">
            <a:avLst/>
          </a:prstGeom>
          <a:solidFill>
            <a:schemeClr val="accent3"/>
          </a:solidFill>
          <a:ln/>
        </p:spPr>
      </p:sp>
      <p:pic>
        <p:nvPicPr>
          <p:cNvPr id="15" name="icon-124" descr="preencoded.png">    </p:cNvPr>
          <p:cNvPicPr>
            <a:picLocks noChangeAspect="1"/>
          </p:cNvPicPr>
          <p:nvPr/>
        </p:nvPicPr>
        <p:blipFill>
          <a:blip r:embed="rId3"/>
          <a:stretch>
            <a:fillRect/>
          </a:stretch>
        </p:blipFill>
        <p:spPr>
          <a:xfrm>
            <a:off x="8553359" y="1780703"/>
            <a:ext cx="260787" cy="260787"/>
          </a:xfrm>
          <a:prstGeom prst="rect">
            <a:avLst/>
          </a:prstGeom>
        </p:spPr>
      </p:pic>
      <p:sp>
        <p:nvSpPr>
          <p:cNvPr id="16" name="text-125"/>
          <p:cNvSpPr txBox="1"/>
          <p:nvPr/>
        </p:nvSpPr>
        <p:spPr>
          <a:xfrm>
            <a:off x="8400288" y="2286000"/>
            <a:ext cx="2965704" cy="320040"/>
          </a:xfrm>
          <a:prstGeom prst="rect">
            <a:avLst/>
          </a:prstGeom>
          <a:noFill/>
          <a:ln/>
        </p:spPr>
        <p:txBody>
          <a:bodyPr wrap="square" lIns="0" tIns="0" rIns="0" bIns="0" rtlCol="0" anchor="t"/>
          <a:lstStyle/>
          <a:p>
            <a:pPr indent="0" marL="0">
              <a:buNone/>
            </a:pPr>
            <a:r>
              <a:rPr lang="en-US" sz="1800" b="1" dirty="0">
                <a:solidFill>
                  <a:schemeClr val="tx1"/>
                </a:solidFill>
              </a:rPr>
              <a:t>Database</a:t>
            </a:r>
            <a:endParaRPr lang="en-US" sz="1800" dirty="0"/>
          </a:p>
        </p:txBody>
      </p:sp>
      <p:sp>
        <p:nvSpPr>
          <p:cNvPr id="17" name="text-126"/>
          <p:cNvSpPr txBox="1"/>
          <p:nvPr/>
        </p:nvSpPr>
        <p:spPr>
          <a:xfrm>
            <a:off x="8400288" y="2633472"/>
            <a:ext cx="2965704" cy="548640"/>
          </a:xfrm>
          <a:prstGeom prst="rect">
            <a:avLst/>
          </a:prstGeom>
          <a:noFill/>
          <a:ln/>
        </p:spPr>
        <p:txBody>
          <a:bodyPr wrap="square" lIns="0" tIns="0" rIns="0" bIns="0" rtlCol="0" anchor="t"/>
          <a:lstStyle/>
          <a:p>
            <a:pPr indent="0" marL="0">
              <a:buNone/>
            </a:pPr>
            <a:r>
              <a:rPr lang="en-US" sz="1400" dirty="0">
                <a:solidFill>
                  <a:schemeClr val="accent6"/>
                </a:solidFill>
              </a:rPr>
              <a:t>MongoDB, Mongoose ODM</a:t>
            </a:r>
            <a:endParaRPr lang="en-US" sz="1400" dirty="0"/>
          </a:p>
        </p:txBody>
      </p:sp>
      <p:sp>
        <p:nvSpPr>
          <p:cNvPr id="18" name="card-127"/>
          <p:cNvSpPr/>
          <p:nvPr/>
        </p:nvSpPr>
        <p:spPr>
          <a:xfrm>
            <a:off x="548640" y="3474720"/>
            <a:ext cx="3514344" cy="1874520"/>
          </a:xfrm>
          <a:prstGeom prst="roundRect">
            <a:avLst>
              <a:gd name="adj" fmla="val 5854"/>
            </a:avLst>
          </a:prstGeom>
          <a:solidFill>
            <a:schemeClr val="bg2"/>
          </a:solidFill>
          <a:ln/>
        </p:spPr>
      </p:sp>
      <p:sp>
        <p:nvSpPr>
          <p:cNvPr id="19" name="iconbg-128"/>
          <p:cNvSpPr/>
          <p:nvPr/>
        </p:nvSpPr>
        <p:spPr>
          <a:xfrm>
            <a:off x="822960" y="3730752"/>
            <a:ext cx="566928" cy="566928"/>
          </a:xfrm>
          <a:prstGeom prst="ellipse">
            <a:avLst/>
          </a:prstGeom>
          <a:solidFill>
            <a:schemeClr val="accent3"/>
          </a:solidFill>
          <a:ln/>
        </p:spPr>
      </p:sp>
      <p:pic>
        <p:nvPicPr>
          <p:cNvPr id="20" name="icon-129" descr="preencoded.png">    </p:cNvPr>
          <p:cNvPicPr>
            <a:picLocks noChangeAspect="1"/>
          </p:cNvPicPr>
          <p:nvPr/>
        </p:nvPicPr>
        <p:blipFill>
          <a:blip r:embed="rId4"/>
          <a:stretch>
            <a:fillRect/>
          </a:stretch>
        </p:blipFill>
        <p:spPr>
          <a:xfrm>
            <a:off x="976031" y="3883823"/>
            <a:ext cx="260787" cy="260787"/>
          </a:xfrm>
          <a:prstGeom prst="rect">
            <a:avLst/>
          </a:prstGeom>
        </p:spPr>
      </p:pic>
      <p:sp>
        <p:nvSpPr>
          <p:cNvPr id="21" name="text-130"/>
          <p:cNvSpPr txBox="1"/>
          <p:nvPr/>
        </p:nvSpPr>
        <p:spPr>
          <a:xfrm>
            <a:off x="822960" y="4389120"/>
            <a:ext cx="2965704" cy="320040"/>
          </a:xfrm>
          <a:prstGeom prst="rect">
            <a:avLst/>
          </a:prstGeom>
          <a:noFill/>
          <a:ln/>
        </p:spPr>
        <p:txBody>
          <a:bodyPr wrap="square" lIns="0" tIns="0" rIns="0" bIns="0" rtlCol="0" anchor="t"/>
          <a:lstStyle/>
          <a:p>
            <a:pPr indent="0" marL="0">
              <a:buNone/>
            </a:pPr>
            <a:r>
              <a:rPr lang="en-US" sz="1800" b="1" dirty="0">
                <a:solidFill>
                  <a:schemeClr val="tx1"/>
                </a:solidFill>
              </a:rPr>
              <a:t>Security</a:t>
            </a:r>
            <a:endParaRPr lang="en-US" sz="1800" dirty="0"/>
          </a:p>
        </p:txBody>
      </p:sp>
      <p:sp>
        <p:nvSpPr>
          <p:cNvPr id="22" name="text-131"/>
          <p:cNvSpPr txBox="1"/>
          <p:nvPr/>
        </p:nvSpPr>
        <p:spPr>
          <a:xfrm>
            <a:off x="822960" y="4736592"/>
            <a:ext cx="2965704" cy="548640"/>
          </a:xfrm>
          <a:prstGeom prst="rect">
            <a:avLst/>
          </a:prstGeom>
          <a:noFill/>
          <a:ln/>
        </p:spPr>
        <p:txBody>
          <a:bodyPr wrap="square" lIns="0" tIns="0" rIns="0" bIns="0" rtlCol="0" anchor="t"/>
          <a:lstStyle/>
          <a:p>
            <a:pPr indent="0" marL="0">
              <a:buNone/>
            </a:pPr>
            <a:r>
              <a:rPr lang="en-US" sz="1400" dirty="0">
                <a:solidFill>
                  <a:schemeClr val="accent6"/>
                </a:solidFill>
              </a:rPr>
              <a:t>JWT tokens, bcrypt hashing</a:t>
            </a:r>
            <a:endParaRPr lang="en-US" sz="1400" dirty="0"/>
          </a:p>
        </p:txBody>
      </p:sp>
      <p:sp>
        <p:nvSpPr>
          <p:cNvPr id="23" name="card-132"/>
          <p:cNvSpPr/>
          <p:nvPr/>
        </p:nvSpPr>
        <p:spPr>
          <a:xfrm>
            <a:off x="4337304" y="3474720"/>
            <a:ext cx="3514344" cy="1874520"/>
          </a:xfrm>
          <a:prstGeom prst="roundRect">
            <a:avLst>
              <a:gd name="adj" fmla="val 5854"/>
            </a:avLst>
          </a:prstGeom>
          <a:solidFill>
            <a:schemeClr val="bg2"/>
          </a:solidFill>
          <a:ln/>
        </p:spPr>
      </p:sp>
      <p:sp>
        <p:nvSpPr>
          <p:cNvPr id="24" name="iconbg-133"/>
          <p:cNvSpPr/>
          <p:nvPr/>
        </p:nvSpPr>
        <p:spPr>
          <a:xfrm>
            <a:off x="4611624" y="3730752"/>
            <a:ext cx="566928" cy="566928"/>
          </a:xfrm>
          <a:prstGeom prst="ellipse">
            <a:avLst/>
          </a:prstGeom>
          <a:solidFill>
            <a:schemeClr val="accent3"/>
          </a:solidFill>
          <a:ln/>
        </p:spPr>
      </p:sp>
      <p:pic>
        <p:nvPicPr>
          <p:cNvPr id="25" name="icon-134" descr="preencoded.png">    </p:cNvPr>
          <p:cNvPicPr>
            <a:picLocks noChangeAspect="1"/>
          </p:cNvPicPr>
          <p:nvPr/>
        </p:nvPicPr>
        <p:blipFill>
          <a:blip r:embed="rId5"/>
          <a:stretch>
            <a:fillRect/>
          </a:stretch>
        </p:blipFill>
        <p:spPr>
          <a:xfrm>
            <a:off x="4764695" y="3883823"/>
            <a:ext cx="260787" cy="260787"/>
          </a:xfrm>
          <a:prstGeom prst="rect">
            <a:avLst/>
          </a:prstGeom>
        </p:spPr>
      </p:pic>
      <p:sp>
        <p:nvSpPr>
          <p:cNvPr id="26" name="text-135"/>
          <p:cNvSpPr txBox="1"/>
          <p:nvPr/>
        </p:nvSpPr>
        <p:spPr>
          <a:xfrm>
            <a:off x="4611624" y="4389120"/>
            <a:ext cx="2965704" cy="320040"/>
          </a:xfrm>
          <a:prstGeom prst="rect">
            <a:avLst/>
          </a:prstGeom>
          <a:noFill/>
          <a:ln/>
        </p:spPr>
        <p:txBody>
          <a:bodyPr wrap="square" lIns="0" tIns="0" rIns="0" bIns="0" rtlCol="0" anchor="t"/>
          <a:lstStyle/>
          <a:p>
            <a:pPr indent="0" marL="0">
              <a:buNone/>
            </a:pPr>
            <a:r>
              <a:rPr lang="en-US" sz="1800" b="1" dirty="0">
                <a:solidFill>
                  <a:schemeClr val="tx1"/>
                </a:solidFill>
              </a:rPr>
              <a:t>Dev tools</a:t>
            </a:r>
            <a:endParaRPr lang="en-US" sz="1800" dirty="0"/>
          </a:p>
        </p:txBody>
      </p:sp>
      <p:sp>
        <p:nvSpPr>
          <p:cNvPr id="27" name="text-136"/>
          <p:cNvSpPr txBox="1"/>
          <p:nvPr/>
        </p:nvSpPr>
        <p:spPr>
          <a:xfrm>
            <a:off x="4611624" y="4736592"/>
            <a:ext cx="2965704" cy="548640"/>
          </a:xfrm>
          <a:prstGeom prst="rect">
            <a:avLst/>
          </a:prstGeom>
          <a:noFill/>
          <a:ln/>
        </p:spPr>
        <p:txBody>
          <a:bodyPr wrap="square" lIns="0" tIns="0" rIns="0" bIns="0" rtlCol="0" anchor="t"/>
          <a:lstStyle/>
          <a:p>
            <a:pPr indent="0" marL="0">
              <a:buNone/>
            </a:pPr>
            <a:r>
              <a:rPr lang="en-US" sz="1400" dirty="0">
                <a:solidFill>
                  <a:schemeClr val="accent6"/>
                </a:solidFill>
              </a:rPr>
              <a:t>VS Code, Postman, MongoDB Compass</a:t>
            </a:r>
            <a:endParaRPr lang="en-US" sz="1400" dirty="0"/>
          </a:p>
        </p:txBody>
      </p:sp>
      <p:sp>
        <p:nvSpPr>
          <p:cNvPr id="28" name="card-137"/>
          <p:cNvSpPr/>
          <p:nvPr/>
        </p:nvSpPr>
        <p:spPr>
          <a:xfrm>
            <a:off x="8125968" y="3474720"/>
            <a:ext cx="3514344" cy="1874520"/>
          </a:xfrm>
          <a:prstGeom prst="roundRect">
            <a:avLst>
              <a:gd name="adj" fmla="val 5854"/>
            </a:avLst>
          </a:prstGeom>
          <a:solidFill>
            <a:schemeClr val="bg2"/>
          </a:solidFill>
          <a:ln/>
        </p:spPr>
      </p:sp>
      <p:sp>
        <p:nvSpPr>
          <p:cNvPr id="29" name="iconbg-138"/>
          <p:cNvSpPr/>
          <p:nvPr/>
        </p:nvSpPr>
        <p:spPr>
          <a:xfrm>
            <a:off x="8400288" y="3730752"/>
            <a:ext cx="566928" cy="566928"/>
          </a:xfrm>
          <a:prstGeom prst="ellipse">
            <a:avLst/>
          </a:prstGeom>
          <a:solidFill>
            <a:schemeClr val="accent3"/>
          </a:solidFill>
          <a:ln/>
        </p:spPr>
      </p:sp>
      <p:pic>
        <p:nvPicPr>
          <p:cNvPr id="30" name="icon-139" descr="preencoded.png">    </p:cNvPr>
          <p:cNvPicPr>
            <a:picLocks noChangeAspect="1"/>
          </p:cNvPicPr>
          <p:nvPr/>
        </p:nvPicPr>
        <p:blipFill>
          <a:blip r:embed="rId6"/>
          <a:stretch>
            <a:fillRect/>
          </a:stretch>
        </p:blipFill>
        <p:spPr>
          <a:xfrm>
            <a:off x="8553359" y="3883823"/>
            <a:ext cx="260787" cy="260787"/>
          </a:xfrm>
          <a:prstGeom prst="rect">
            <a:avLst/>
          </a:prstGeom>
        </p:spPr>
      </p:pic>
      <p:sp>
        <p:nvSpPr>
          <p:cNvPr id="31" name="text-140"/>
          <p:cNvSpPr txBox="1"/>
          <p:nvPr/>
        </p:nvSpPr>
        <p:spPr>
          <a:xfrm>
            <a:off x="8400288" y="4389120"/>
            <a:ext cx="2965704" cy="320040"/>
          </a:xfrm>
          <a:prstGeom prst="rect">
            <a:avLst/>
          </a:prstGeom>
          <a:noFill/>
          <a:ln/>
        </p:spPr>
        <p:txBody>
          <a:bodyPr wrap="square" lIns="0" tIns="0" rIns="0" bIns="0" rtlCol="0" anchor="t"/>
          <a:lstStyle/>
          <a:p>
            <a:pPr indent="0" marL="0">
              <a:buNone/>
            </a:pPr>
            <a:r>
              <a:rPr lang="en-US" sz="1800" b="1" dirty="0">
                <a:solidFill>
                  <a:schemeClr val="tx1"/>
                </a:solidFill>
              </a:rPr>
              <a:t>Version control</a:t>
            </a:r>
            <a:endParaRPr lang="en-US" sz="1800" dirty="0"/>
          </a:p>
        </p:txBody>
      </p:sp>
      <p:sp>
        <p:nvSpPr>
          <p:cNvPr id="32" name="text-141"/>
          <p:cNvSpPr txBox="1"/>
          <p:nvPr/>
        </p:nvSpPr>
        <p:spPr>
          <a:xfrm>
            <a:off x="8400288" y="4736592"/>
            <a:ext cx="2965704" cy="548640"/>
          </a:xfrm>
          <a:prstGeom prst="rect">
            <a:avLst/>
          </a:prstGeom>
          <a:noFill/>
          <a:ln/>
        </p:spPr>
        <p:txBody>
          <a:bodyPr wrap="square" lIns="0" tIns="0" rIns="0" bIns="0" rtlCol="0" anchor="t"/>
          <a:lstStyle/>
          <a:p>
            <a:pPr indent="0" marL="0">
              <a:buNone/>
            </a:pPr>
            <a:r>
              <a:rPr lang="en-US" sz="1400" dirty="0">
                <a:solidFill>
                  <a:schemeClr val="accent6"/>
                </a:solidFill>
              </a:rPr>
              <a:t>Git and GitHub</a:t>
            </a:r>
            <a:endParaRPr lang="en-US" sz="1400" dirty="0"/>
          </a:p>
        </p:txBody>
      </p:sp>
      <p:sp>
        <p:nvSpPr>
          <p:cNvPr id="33" name="card-142"/>
          <p:cNvSpPr/>
          <p:nvPr/>
        </p:nvSpPr>
        <p:spPr>
          <a:xfrm>
            <a:off x="548640" y="5669280"/>
            <a:ext cx="11091672" cy="594360"/>
          </a:xfrm>
          <a:prstGeom prst="roundRect">
            <a:avLst>
              <a:gd name="adj" fmla="val 18462"/>
            </a:avLst>
          </a:prstGeom>
          <a:solidFill>
            <a:schemeClr val="bg2"/>
          </a:solidFill>
          <a:ln/>
        </p:spPr>
      </p:sp>
      <p:sp>
        <p:nvSpPr>
          <p:cNvPr id="34" name="text-143"/>
          <p:cNvSpPr txBox="1"/>
          <p:nvPr/>
        </p:nvSpPr>
        <p:spPr>
          <a:xfrm>
            <a:off x="548640" y="5669280"/>
            <a:ext cx="11091672" cy="594360"/>
          </a:xfrm>
          <a:prstGeom prst="rect">
            <a:avLst/>
          </a:prstGeom>
          <a:noFill/>
          <a:ln/>
        </p:spPr>
        <p:txBody>
          <a:bodyPr wrap="square" lIns="0" tIns="0" rIns="0" bIns="0" rtlCol="0" anchor="ctr"/>
          <a:lstStyle/>
          <a:p>
            <a:pPr algn="ctr" indent="0" marL="0">
              <a:buNone/>
            </a:pPr>
            <a:r>
              <a:rPr lang="en-US" sz="1400" b="1" dirty="0">
                <a:solidFill>
                  <a:schemeClr val="tx2"/>
                </a:solidFill>
              </a:rPr>
              <a:t>Runs on: Windows 10/11  ·  Core i3 or higher  ·  8 GB RAM  ·  Node.js 18+  ·  MongoDB 6.0  ·  Google Chrome</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Three-tier system architecture</a:t>
            </a:r>
            <a:endParaRPr lang="en-US" sz="3400" dirty="0"/>
          </a:p>
        </p:txBody>
      </p:sp>
      <p:sp>
        <p:nvSpPr>
          <p:cNvPr id="3" name="card-144"/>
          <p:cNvSpPr/>
          <p:nvPr/>
        </p:nvSpPr>
        <p:spPr>
          <a:xfrm>
            <a:off x="548640" y="1371600"/>
            <a:ext cx="6858000" cy="4688586"/>
          </a:xfrm>
          <a:prstGeom prst="roundRect">
            <a:avLst>
              <a:gd name="adj" fmla="val 2340"/>
            </a:avLst>
          </a:prstGeom>
          <a:solidFill>
            <a:schemeClr val="bg1"/>
          </a:solidFill>
          <a:ln/>
          <a:effectLst>
            <a:outerShdw sx="100000" sy="100000" kx="0" ky="0" algn="bl" rotWithShape="0" blurRad="101600" dist="25400" dir="5400000">
              <a:srgbClr val="000000">
                <a:alpha val="14000"/>
              </a:srgbClr>
            </a:outerShdw>
          </a:effectLst>
        </p:spPr>
      </p:sp>
      <p:pic>
        <p:nvPicPr>
          <p:cNvPr id="4" name="pic-145" descr="/home/claude/img/p-003.png">    </p:cNvPr>
          <p:cNvPicPr>
            <a:picLocks noChangeAspect="1"/>
          </p:cNvPicPr>
          <p:nvPr/>
        </p:nvPicPr>
        <p:blipFill>
          <a:blip r:embed="rId1"/>
          <a:stretch>
            <a:fillRect/>
          </a:stretch>
        </p:blipFill>
        <p:spPr>
          <a:xfrm>
            <a:off x="640080" y="1463040"/>
            <a:ext cx="6675120" cy="4505706"/>
          </a:xfrm>
          <a:prstGeom prst="rect">
            <a:avLst/>
          </a:prstGeom>
        </p:spPr>
      </p:pic>
      <p:sp>
        <p:nvSpPr>
          <p:cNvPr id="5" name="card-146"/>
          <p:cNvSpPr/>
          <p:nvPr/>
        </p:nvSpPr>
        <p:spPr>
          <a:xfrm>
            <a:off x="7680960" y="1371600"/>
            <a:ext cx="3959352" cy="1188720"/>
          </a:xfrm>
          <a:prstGeom prst="roundRect">
            <a:avLst>
              <a:gd name="adj" fmla="val 9231"/>
            </a:avLst>
          </a:prstGeom>
          <a:solidFill>
            <a:schemeClr val="bg2"/>
          </a:solidFill>
          <a:ln/>
        </p:spPr>
      </p:sp>
      <p:sp>
        <p:nvSpPr>
          <p:cNvPr id="6" name="numbg-147"/>
          <p:cNvSpPr/>
          <p:nvPr/>
        </p:nvSpPr>
        <p:spPr>
          <a:xfrm>
            <a:off x="7863840" y="1691640"/>
            <a:ext cx="502920" cy="502920"/>
          </a:xfrm>
          <a:prstGeom prst="ellipse">
            <a:avLst/>
          </a:prstGeom>
          <a:solidFill>
            <a:schemeClr val="accent1"/>
          </a:solidFill>
          <a:ln/>
        </p:spPr>
      </p:sp>
      <p:sp>
        <p:nvSpPr>
          <p:cNvPr id="7" name="num-148"/>
          <p:cNvSpPr txBox="1"/>
          <p:nvPr/>
        </p:nvSpPr>
        <p:spPr>
          <a:xfrm>
            <a:off x="786384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149"/>
          <p:cNvSpPr txBox="1"/>
          <p:nvPr/>
        </p:nvSpPr>
        <p:spPr>
          <a:xfrm>
            <a:off x="8549640" y="1481328"/>
            <a:ext cx="2971800" cy="292608"/>
          </a:xfrm>
          <a:prstGeom prst="rect">
            <a:avLst/>
          </a:prstGeom>
          <a:noFill/>
          <a:ln/>
        </p:spPr>
        <p:txBody>
          <a:bodyPr wrap="square" lIns="0" tIns="0" rIns="0" bIns="0" rtlCol="0" anchor="t"/>
          <a:lstStyle/>
          <a:p>
            <a:pPr indent="0" marL="0">
              <a:buNone/>
            </a:pPr>
            <a:r>
              <a:rPr lang="en-US" sz="1600" b="1" dirty="0">
                <a:solidFill>
                  <a:schemeClr val="tx1"/>
                </a:solidFill>
              </a:rPr>
              <a:t>Presentation tier</a:t>
            </a:r>
            <a:endParaRPr lang="en-US" sz="1600" dirty="0"/>
          </a:p>
        </p:txBody>
      </p:sp>
      <p:sp>
        <p:nvSpPr>
          <p:cNvPr id="9" name="text-150"/>
          <p:cNvSpPr txBox="1"/>
          <p:nvPr/>
        </p:nvSpPr>
        <p:spPr>
          <a:xfrm>
            <a:off x="8549640" y="1792224"/>
            <a:ext cx="2971800" cy="731520"/>
          </a:xfrm>
          <a:prstGeom prst="rect">
            <a:avLst/>
          </a:prstGeom>
          <a:noFill/>
          <a:ln/>
        </p:spPr>
        <p:txBody>
          <a:bodyPr wrap="square" lIns="0" tIns="0" rIns="0" bIns="0" rtlCol="0" anchor="t"/>
          <a:lstStyle/>
          <a:p>
            <a:pPr indent="0" marL="0">
              <a:buNone/>
            </a:pPr>
            <a:r>
              <a:rPr lang="en-US" sz="1400" dirty="0">
                <a:solidFill>
                  <a:schemeClr val="accent6"/>
                </a:solidFill>
              </a:rPr>
              <a:t>React and Tailwind CSS: login, tasks, suggestions, dashboard</a:t>
            </a:r>
            <a:endParaRPr lang="en-US" sz="1400" dirty="0"/>
          </a:p>
        </p:txBody>
      </p:sp>
      <p:sp>
        <p:nvSpPr>
          <p:cNvPr id="10" name="card-151"/>
          <p:cNvSpPr/>
          <p:nvPr/>
        </p:nvSpPr>
        <p:spPr>
          <a:xfrm>
            <a:off x="7680960" y="2697480"/>
            <a:ext cx="3959352" cy="1188720"/>
          </a:xfrm>
          <a:prstGeom prst="roundRect">
            <a:avLst>
              <a:gd name="adj" fmla="val 9231"/>
            </a:avLst>
          </a:prstGeom>
          <a:solidFill>
            <a:schemeClr val="bg2"/>
          </a:solidFill>
          <a:ln/>
        </p:spPr>
      </p:sp>
      <p:sp>
        <p:nvSpPr>
          <p:cNvPr id="11" name="numbg-152"/>
          <p:cNvSpPr/>
          <p:nvPr/>
        </p:nvSpPr>
        <p:spPr>
          <a:xfrm>
            <a:off x="7863840" y="3017520"/>
            <a:ext cx="502920" cy="502920"/>
          </a:xfrm>
          <a:prstGeom prst="ellipse">
            <a:avLst/>
          </a:prstGeom>
          <a:solidFill>
            <a:schemeClr val="accent1"/>
          </a:solidFill>
          <a:ln/>
        </p:spPr>
      </p:sp>
      <p:sp>
        <p:nvSpPr>
          <p:cNvPr id="12" name="num-153"/>
          <p:cNvSpPr txBox="1"/>
          <p:nvPr/>
        </p:nvSpPr>
        <p:spPr>
          <a:xfrm>
            <a:off x="7863840" y="30175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154"/>
          <p:cNvSpPr txBox="1"/>
          <p:nvPr/>
        </p:nvSpPr>
        <p:spPr>
          <a:xfrm>
            <a:off x="8549640" y="2807208"/>
            <a:ext cx="2971800" cy="292608"/>
          </a:xfrm>
          <a:prstGeom prst="rect">
            <a:avLst/>
          </a:prstGeom>
          <a:noFill/>
          <a:ln/>
        </p:spPr>
        <p:txBody>
          <a:bodyPr wrap="square" lIns="0" tIns="0" rIns="0" bIns="0" rtlCol="0" anchor="t"/>
          <a:lstStyle/>
          <a:p>
            <a:pPr indent="0" marL="0">
              <a:buNone/>
            </a:pPr>
            <a:r>
              <a:rPr lang="en-US" sz="1600" b="1" dirty="0">
                <a:solidFill>
                  <a:schemeClr val="tx1"/>
                </a:solidFill>
              </a:rPr>
              <a:t>Application tier</a:t>
            </a:r>
            <a:endParaRPr lang="en-US" sz="1600" dirty="0"/>
          </a:p>
        </p:txBody>
      </p:sp>
      <p:sp>
        <p:nvSpPr>
          <p:cNvPr id="14" name="text-155"/>
          <p:cNvSpPr txBox="1"/>
          <p:nvPr/>
        </p:nvSpPr>
        <p:spPr>
          <a:xfrm>
            <a:off x="8549640" y="3118104"/>
            <a:ext cx="2971800" cy="731520"/>
          </a:xfrm>
          <a:prstGeom prst="rect">
            <a:avLst/>
          </a:prstGeom>
          <a:noFill/>
          <a:ln/>
        </p:spPr>
        <p:txBody>
          <a:bodyPr wrap="square" lIns="0" tIns="0" rIns="0" bIns="0" rtlCol="0" anchor="t"/>
          <a:lstStyle/>
          <a:p>
            <a:pPr indent="0" marL="0">
              <a:buNone/>
            </a:pPr>
            <a:r>
              <a:rPr lang="en-US" sz="1400" dirty="0">
                <a:solidFill>
                  <a:schemeClr val="accent6"/>
                </a:solidFill>
              </a:rPr>
              <a:t>Express API: auth routes, task routes, JWT middleware, priority engine</a:t>
            </a:r>
            <a:endParaRPr lang="en-US" sz="1400" dirty="0"/>
          </a:p>
        </p:txBody>
      </p:sp>
      <p:sp>
        <p:nvSpPr>
          <p:cNvPr id="15" name="card-156"/>
          <p:cNvSpPr/>
          <p:nvPr/>
        </p:nvSpPr>
        <p:spPr>
          <a:xfrm>
            <a:off x="7680960" y="4023360"/>
            <a:ext cx="3959352" cy="1188720"/>
          </a:xfrm>
          <a:prstGeom prst="roundRect">
            <a:avLst>
              <a:gd name="adj" fmla="val 9231"/>
            </a:avLst>
          </a:prstGeom>
          <a:solidFill>
            <a:schemeClr val="bg2"/>
          </a:solidFill>
          <a:ln/>
        </p:spPr>
      </p:sp>
      <p:sp>
        <p:nvSpPr>
          <p:cNvPr id="16" name="numbg-157"/>
          <p:cNvSpPr/>
          <p:nvPr/>
        </p:nvSpPr>
        <p:spPr>
          <a:xfrm>
            <a:off x="7863840" y="4343400"/>
            <a:ext cx="502920" cy="502920"/>
          </a:xfrm>
          <a:prstGeom prst="ellipse">
            <a:avLst/>
          </a:prstGeom>
          <a:solidFill>
            <a:schemeClr val="accent1"/>
          </a:solidFill>
          <a:ln/>
        </p:spPr>
      </p:sp>
      <p:sp>
        <p:nvSpPr>
          <p:cNvPr id="17" name="num-158"/>
          <p:cNvSpPr txBox="1"/>
          <p:nvPr/>
        </p:nvSpPr>
        <p:spPr>
          <a:xfrm>
            <a:off x="7863840" y="43434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159"/>
          <p:cNvSpPr txBox="1"/>
          <p:nvPr/>
        </p:nvSpPr>
        <p:spPr>
          <a:xfrm>
            <a:off x="8549640" y="4133088"/>
            <a:ext cx="2971800" cy="292608"/>
          </a:xfrm>
          <a:prstGeom prst="rect">
            <a:avLst/>
          </a:prstGeom>
          <a:noFill/>
          <a:ln/>
        </p:spPr>
        <p:txBody>
          <a:bodyPr wrap="square" lIns="0" tIns="0" rIns="0" bIns="0" rtlCol="0" anchor="t"/>
          <a:lstStyle/>
          <a:p>
            <a:pPr indent="0" marL="0">
              <a:buNone/>
            </a:pPr>
            <a:r>
              <a:rPr lang="en-US" sz="1600" b="1" dirty="0">
                <a:solidFill>
                  <a:schemeClr val="tx1"/>
                </a:solidFill>
              </a:rPr>
              <a:t>Data tier</a:t>
            </a:r>
            <a:endParaRPr lang="en-US" sz="1600" dirty="0"/>
          </a:p>
        </p:txBody>
      </p:sp>
      <p:sp>
        <p:nvSpPr>
          <p:cNvPr id="19" name="text-160"/>
          <p:cNvSpPr txBox="1"/>
          <p:nvPr/>
        </p:nvSpPr>
        <p:spPr>
          <a:xfrm>
            <a:off x="8549640" y="4443984"/>
            <a:ext cx="2971800" cy="731520"/>
          </a:xfrm>
          <a:prstGeom prst="rect">
            <a:avLst/>
          </a:prstGeom>
          <a:noFill/>
          <a:ln/>
        </p:spPr>
        <p:txBody>
          <a:bodyPr wrap="square" lIns="0" tIns="0" rIns="0" bIns="0" rtlCol="0" anchor="t"/>
          <a:lstStyle/>
          <a:p>
            <a:pPr indent="0" marL="0">
              <a:buNone/>
            </a:pPr>
            <a:r>
              <a:rPr lang="en-US" sz="1400" dirty="0">
                <a:solidFill>
                  <a:schemeClr val="accent6"/>
                </a:solidFill>
              </a:rPr>
              <a:t>MongoDB with Mongoose: users and tasks collections</a:t>
            </a:r>
            <a:endParaRPr lang="en-US" sz="1400" dirty="0"/>
          </a:p>
        </p:txBody>
      </p:sp>
      <p:sp>
        <p:nvSpPr>
          <p:cNvPr id="20" name="card-161"/>
          <p:cNvSpPr/>
          <p:nvPr/>
        </p:nvSpPr>
        <p:spPr>
          <a:xfrm>
            <a:off x="7680960" y="5349240"/>
            <a:ext cx="3959352" cy="731520"/>
          </a:xfrm>
          <a:prstGeom prst="roundRect">
            <a:avLst>
              <a:gd name="adj" fmla="val 15000"/>
            </a:avLst>
          </a:prstGeom>
          <a:solidFill>
            <a:schemeClr val="tx1"/>
          </a:solidFill>
          <a:ln/>
        </p:spPr>
      </p:sp>
      <p:sp>
        <p:nvSpPr>
          <p:cNvPr id="21" name="text-162"/>
          <p:cNvSpPr txBox="1"/>
          <p:nvPr/>
        </p:nvSpPr>
        <p:spPr>
          <a:xfrm>
            <a:off x="7863840" y="5349240"/>
            <a:ext cx="3611880" cy="731520"/>
          </a:xfrm>
          <a:prstGeom prst="rect">
            <a:avLst/>
          </a:prstGeom>
          <a:noFill/>
          <a:ln/>
        </p:spPr>
        <p:txBody>
          <a:bodyPr wrap="square" lIns="0" tIns="0" rIns="0" bIns="0" rtlCol="0" anchor="ctr"/>
          <a:lstStyle/>
          <a:p>
            <a:pPr indent="0" marL="0">
              <a:buNone/>
            </a:pPr>
            <a:r>
              <a:rPr lang="en-US" sz="1400" b="1" dirty="0">
                <a:solidFill>
                  <a:schemeClr val="bg1"/>
                </a:solidFill>
              </a:rPr>
              <a:t>Axios sends HTTP/JSON requests; Mongoose reads and writes MongoDB</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Database design</a:t>
            </a:r>
            <a:endParaRPr lang="en-US" sz="3400" dirty="0"/>
          </a:p>
        </p:txBody>
      </p:sp>
      <p:sp>
        <p:nvSpPr>
          <p:cNvPr id="3" name="card-163"/>
          <p:cNvSpPr/>
          <p:nvPr/>
        </p:nvSpPr>
        <p:spPr>
          <a:xfrm>
            <a:off x="548640" y="1371600"/>
            <a:ext cx="6766560" cy="3567281"/>
          </a:xfrm>
          <a:prstGeom prst="roundRect">
            <a:avLst>
              <a:gd name="adj" fmla="val 3076"/>
            </a:avLst>
          </a:prstGeom>
          <a:solidFill>
            <a:schemeClr val="bg1"/>
          </a:solidFill>
          <a:ln/>
          <a:effectLst>
            <a:outerShdw sx="100000" sy="100000" kx="0" ky="0" algn="bl" rotWithShape="0" blurRad="101600" dist="25400" dir="5400000">
              <a:srgbClr val="000000">
                <a:alpha val="14000"/>
              </a:srgbClr>
            </a:outerShdw>
          </a:effectLst>
        </p:spPr>
      </p:sp>
      <p:pic>
        <p:nvPicPr>
          <p:cNvPr id="4" name="pic-164" descr="/home/claude/img/c_er.png">    </p:cNvPr>
          <p:cNvPicPr>
            <a:picLocks noChangeAspect="1"/>
          </p:cNvPicPr>
          <p:nvPr/>
        </p:nvPicPr>
        <p:blipFill>
          <a:blip r:embed="rId1"/>
          <a:stretch>
            <a:fillRect/>
          </a:stretch>
        </p:blipFill>
        <p:spPr>
          <a:xfrm>
            <a:off x="640080" y="1463040"/>
            <a:ext cx="6583680" cy="3384401"/>
          </a:xfrm>
          <a:prstGeom prst="rect">
            <a:avLst/>
          </a:prstGeom>
        </p:spPr>
      </p:pic>
      <p:sp>
        <p:nvSpPr>
          <p:cNvPr id="5" name="card-165"/>
          <p:cNvSpPr/>
          <p:nvPr/>
        </p:nvSpPr>
        <p:spPr>
          <a:xfrm>
            <a:off x="7589520" y="1371600"/>
            <a:ext cx="4050792" cy="1005840"/>
          </a:xfrm>
          <a:prstGeom prst="roundRect">
            <a:avLst>
              <a:gd name="adj" fmla="val 10909"/>
            </a:avLst>
          </a:prstGeom>
          <a:solidFill>
            <a:schemeClr val="bg2"/>
          </a:solidFill>
          <a:ln/>
        </p:spPr>
      </p:sp>
      <p:sp>
        <p:nvSpPr>
          <p:cNvPr id="6" name="text-166"/>
          <p:cNvSpPr txBox="1"/>
          <p:nvPr/>
        </p:nvSpPr>
        <p:spPr>
          <a:xfrm>
            <a:off x="7772400" y="1371600"/>
            <a:ext cx="1554480" cy="10058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7" name="text-167"/>
          <p:cNvSpPr txBox="1"/>
          <p:nvPr/>
        </p:nvSpPr>
        <p:spPr>
          <a:xfrm>
            <a:off x="9326880" y="1371600"/>
            <a:ext cx="2194560" cy="1005840"/>
          </a:xfrm>
          <a:prstGeom prst="rect">
            <a:avLst/>
          </a:prstGeom>
          <a:noFill/>
          <a:ln/>
        </p:spPr>
        <p:txBody>
          <a:bodyPr wrap="square" lIns="0" tIns="0" rIns="0" bIns="0" rtlCol="0" anchor="ctr"/>
          <a:lstStyle/>
          <a:p>
            <a:pPr indent="0" marL="0">
              <a:buNone/>
            </a:pPr>
            <a:r>
              <a:rPr lang="en-US" sz="1400" dirty="0">
                <a:solidFill>
                  <a:schemeClr val="tx1"/>
                </a:solidFill>
              </a:rPr>
              <a:t>collections: User and Task</a:t>
            </a:r>
            <a:endParaRPr lang="en-US" sz="1400" dirty="0"/>
          </a:p>
        </p:txBody>
      </p:sp>
      <p:sp>
        <p:nvSpPr>
          <p:cNvPr id="8" name="card-168"/>
          <p:cNvSpPr/>
          <p:nvPr/>
        </p:nvSpPr>
        <p:spPr>
          <a:xfrm>
            <a:off x="7589520" y="2514600"/>
            <a:ext cx="4050792" cy="1005840"/>
          </a:xfrm>
          <a:prstGeom prst="roundRect">
            <a:avLst>
              <a:gd name="adj" fmla="val 10909"/>
            </a:avLst>
          </a:prstGeom>
          <a:solidFill>
            <a:schemeClr val="bg2"/>
          </a:solidFill>
          <a:ln/>
        </p:spPr>
      </p:sp>
      <p:sp>
        <p:nvSpPr>
          <p:cNvPr id="9" name="text-169"/>
          <p:cNvSpPr txBox="1"/>
          <p:nvPr/>
        </p:nvSpPr>
        <p:spPr>
          <a:xfrm>
            <a:off x="7772400" y="2514600"/>
            <a:ext cx="1554480" cy="10058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 : N</a:t>
            </a:r>
            <a:endParaRPr lang="en-US" sz="3000" dirty="0"/>
          </a:p>
        </p:txBody>
      </p:sp>
      <p:sp>
        <p:nvSpPr>
          <p:cNvPr id="10" name="text-170"/>
          <p:cNvSpPr txBox="1"/>
          <p:nvPr/>
        </p:nvSpPr>
        <p:spPr>
          <a:xfrm>
            <a:off x="9326880" y="2514600"/>
            <a:ext cx="2194560" cy="1005840"/>
          </a:xfrm>
          <a:prstGeom prst="rect">
            <a:avLst/>
          </a:prstGeom>
          <a:noFill/>
          <a:ln/>
        </p:spPr>
        <p:txBody>
          <a:bodyPr wrap="square" lIns="0" tIns="0" rIns="0" bIns="0" rtlCol="0" anchor="ctr"/>
          <a:lstStyle/>
          <a:p>
            <a:pPr indent="0" marL="0">
              <a:buNone/>
            </a:pPr>
            <a:r>
              <a:rPr lang="en-US" sz="1400" dirty="0">
                <a:solidFill>
                  <a:schemeClr val="tx1"/>
                </a:solidFill>
              </a:rPr>
              <a:t>one user owns many tasks</a:t>
            </a:r>
            <a:endParaRPr lang="en-US" sz="1400" dirty="0"/>
          </a:p>
        </p:txBody>
      </p:sp>
      <p:sp>
        <p:nvSpPr>
          <p:cNvPr id="11" name="card-171"/>
          <p:cNvSpPr/>
          <p:nvPr/>
        </p:nvSpPr>
        <p:spPr>
          <a:xfrm>
            <a:off x="7589520" y="3657600"/>
            <a:ext cx="4050792" cy="1005840"/>
          </a:xfrm>
          <a:prstGeom prst="roundRect">
            <a:avLst>
              <a:gd name="adj" fmla="val 10909"/>
            </a:avLst>
          </a:prstGeom>
          <a:solidFill>
            <a:schemeClr val="bg2"/>
          </a:solidFill>
          <a:ln/>
        </p:spPr>
      </p:sp>
      <p:sp>
        <p:nvSpPr>
          <p:cNvPr id="12" name="text-172"/>
          <p:cNvSpPr txBox="1"/>
          <p:nvPr/>
        </p:nvSpPr>
        <p:spPr>
          <a:xfrm>
            <a:off x="7772400" y="3657600"/>
            <a:ext cx="1554480" cy="10058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bcrypt</a:t>
            </a:r>
            <a:endParaRPr lang="en-US" sz="3000" dirty="0"/>
          </a:p>
        </p:txBody>
      </p:sp>
      <p:sp>
        <p:nvSpPr>
          <p:cNvPr id="13" name="text-173"/>
          <p:cNvSpPr txBox="1"/>
          <p:nvPr/>
        </p:nvSpPr>
        <p:spPr>
          <a:xfrm>
            <a:off x="9326880" y="3657600"/>
            <a:ext cx="2194560" cy="1005840"/>
          </a:xfrm>
          <a:prstGeom prst="rect">
            <a:avLst/>
          </a:prstGeom>
          <a:noFill/>
          <a:ln/>
        </p:spPr>
        <p:txBody>
          <a:bodyPr wrap="square" lIns="0" tIns="0" rIns="0" bIns="0" rtlCol="0" anchor="ctr"/>
          <a:lstStyle/>
          <a:p>
            <a:pPr indent="0" marL="0">
              <a:buNone/>
            </a:pPr>
            <a:r>
              <a:rPr lang="en-US" sz="1400" dirty="0">
                <a:solidFill>
                  <a:schemeClr val="tx1"/>
                </a:solidFill>
              </a:rPr>
              <a:t>passwords stored only as hashes</a:t>
            </a:r>
            <a:endParaRPr lang="en-US" sz="1400" dirty="0"/>
          </a:p>
        </p:txBody>
      </p:sp>
      <p:sp>
        <p:nvSpPr>
          <p:cNvPr id="14" name="card-174"/>
          <p:cNvSpPr/>
          <p:nvPr/>
        </p:nvSpPr>
        <p:spPr>
          <a:xfrm>
            <a:off x="548640" y="5029200"/>
            <a:ext cx="5440680" cy="1188720"/>
          </a:xfrm>
          <a:prstGeom prst="roundRect">
            <a:avLst>
              <a:gd name="adj" fmla="val 9231"/>
            </a:avLst>
          </a:prstGeom>
          <a:solidFill>
            <a:schemeClr val="bg2"/>
          </a:solidFill>
          <a:ln/>
        </p:spPr>
      </p:sp>
      <p:sp>
        <p:nvSpPr>
          <p:cNvPr id="15" name="text-175"/>
          <p:cNvSpPr txBox="1"/>
          <p:nvPr/>
        </p:nvSpPr>
        <p:spPr>
          <a:xfrm>
            <a:off x="777240" y="5138928"/>
            <a:ext cx="5029200" cy="274320"/>
          </a:xfrm>
          <a:prstGeom prst="rect">
            <a:avLst/>
          </a:prstGeom>
          <a:noFill/>
          <a:ln/>
        </p:spPr>
        <p:txBody>
          <a:bodyPr wrap="square" lIns="0" tIns="0" rIns="0" bIns="0" rtlCol="0" anchor="t"/>
          <a:lstStyle/>
          <a:p>
            <a:pPr indent="0" marL="0">
              <a:buNone/>
            </a:pPr>
            <a:r>
              <a:rPr lang="en-US" sz="1600" b="1" dirty="0">
                <a:solidFill>
                  <a:schemeClr val="tx2"/>
                </a:solidFill>
              </a:rPr>
              <a:t>User</a:t>
            </a:r>
            <a:endParaRPr lang="en-US" sz="1600" dirty="0"/>
          </a:p>
        </p:txBody>
      </p:sp>
      <p:sp>
        <p:nvSpPr>
          <p:cNvPr id="16" name="text-176"/>
          <p:cNvSpPr txBox="1"/>
          <p:nvPr/>
        </p:nvSpPr>
        <p:spPr>
          <a:xfrm>
            <a:off x="777240" y="5468112"/>
            <a:ext cx="5029200" cy="640080"/>
          </a:xfrm>
          <a:prstGeom prst="rect">
            <a:avLst/>
          </a:prstGeom>
          <a:noFill/>
          <a:ln/>
        </p:spPr>
        <p:txBody>
          <a:bodyPr wrap="square" lIns="0" tIns="0" rIns="0" bIns="0" rtlCol="0" anchor="t"/>
          <a:lstStyle/>
          <a:p>
            <a:pPr indent="0" marL="0">
              <a:buNone/>
            </a:pPr>
            <a:r>
              <a:rPr lang="en-US" sz="1400" dirty="0">
                <a:solidFill>
                  <a:schemeClr val="accent6"/>
                </a:solidFill>
              </a:rPr>
              <a:t>user_id, name, email (unique), password (bcrypt hash)</a:t>
            </a:r>
            <a:endParaRPr lang="en-US" sz="1400" dirty="0"/>
          </a:p>
        </p:txBody>
      </p:sp>
      <p:sp>
        <p:nvSpPr>
          <p:cNvPr id="17" name="card-177"/>
          <p:cNvSpPr/>
          <p:nvPr/>
        </p:nvSpPr>
        <p:spPr>
          <a:xfrm>
            <a:off x="6199632" y="5029200"/>
            <a:ext cx="5440680" cy="1188720"/>
          </a:xfrm>
          <a:prstGeom prst="roundRect">
            <a:avLst>
              <a:gd name="adj" fmla="val 9231"/>
            </a:avLst>
          </a:prstGeom>
          <a:solidFill>
            <a:schemeClr val="bg2"/>
          </a:solidFill>
          <a:ln/>
        </p:spPr>
      </p:sp>
      <p:sp>
        <p:nvSpPr>
          <p:cNvPr id="18" name="text-178"/>
          <p:cNvSpPr txBox="1"/>
          <p:nvPr/>
        </p:nvSpPr>
        <p:spPr>
          <a:xfrm>
            <a:off x="6428232" y="5138928"/>
            <a:ext cx="5029200" cy="274320"/>
          </a:xfrm>
          <a:prstGeom prst="rect">
            <a:avLst/>
          </a:prstGeom>
          <a:noFill/>
          <a:ln/>
        </p:spPr>
        <p:txBody>
          <a:bodyPr wrap="square" lIns="0" tIns="0" rIns="0" bIns="0" rtlCol="0" anchor="t"/>
          <a:lstStyle/>
          <a:p>
            <a:pPr indent="0" marL="0">
              <a:buNone/>
            </a:pPr>
            <a:r>
              <a:rPr lang="en-US" sz="1600" b="1" dirty="0">
                <a:solidFill>
                  <a:schemeClr val="tx2"/>
                </a:solidFill>
              </a:rPr>
              <a:t>Task</a:t>
            </a:r>
            <a:endParaRPr lang="en-US" sz="1600" dirty="0"/>
          </a:p>
        </p:txBody>
      </p:sp>
      <p:sp>
        <p:nvSpPr>
          <p:cNvPr id="19" name="text-179"/>
          <p:cNvSpPr txBox="1"/>
          <p:nvPr/>
        </p:nvSpPr>
        <p:spPr>
          <a:xfrm>
            <a:off x="6428232" y="5468112"/>
            <a:ext cx="5029200" cy="640080"/>
          </a:xfrm>
          <a:prstGeom prst="rect">
            <a:avLst/>
          </a:prstGeom>
          <a:noFill/>
          <a:ln/>
        </p:spPr>
        <p:txBody>
          <a:bodyPr wrap="square" lIns="0" tIns="0" rIns="0" bIns="0" rtlCol="0" anchor="t"/>
          <a:lstStyle/>
          <a:p>
            <a:pPr indent="0" marL="0">
              <a:buNone/>
            </a:pPr>
            <a:r>
              <a:rPr lang="en-US" sz="1400" dirty="0">
                <a:solidFill>
                  <a:schemeClr val="accent6"/>
                </a:solidFill>
              </a:rPr>
              <a:t>task_id, user_id (FK), title, description, category, priority, due_date, status, created_at</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30-day internship journey</a:t>
            </a:r>
            <a:endParaRPr lang="en-US" sz="3400" dirty="0"/>
          </a:p>
        </p:txBody>
      </p:sp>
      <p:sp>
        <p:nvSpPr>
          <p:cNvPr id="3" name="timeline-line"/>
          <p:cNvSpPr/>
          <p:nvPr/>
        </p:nvSpPr>
        <p:spPr>
          <a:xfrm>
            <a:off x="1600200" y="1691640"/>
            <a:ext cx="8997696" cy="0"/>
          </a:xfrm>
          <a:prstGeom prst="line">
            <a:avLst/>
          </a:prstGeom>
          <a:noFill/>
          <a:ln w="31750">
            <a:solidFill>
              <a:schemeClr val="accent1"/>
            </a:solidFill>
            <a:prstDash val="solid"/>
          </a:ln>
        </p:spPr>
      </p:sp>
      <p:sp>
        <p:nvSpPr>
          <p:cNvPr id="4" name="numbg-180"/>
          <p:cNvSpPr/>
          <p:nvPr/>
        </p:nvSpPr>
        <p:spPr>
          <a:xfrm>
            <a:off x="1325880" y="1417320"/>
            <a:ext cx="548640" cy="548640"/>
          </a:xfrm>
          <a:prstGeom prst="ellipse">
            <a:avLst/>
          </a:prstGeom>
          <a:solidFill>
            <a:schemeClr val="accent1"/>
          </a:solidFill>
          <a:ln/>
        </p:spPr>
      </p:sp>
      <p:sp>
        <p:nvSpPr>
          <p:cNvPr id="5" name="num-181"/>
          <p:cNvSpPr txBox="1"/>
          <p:nvPr/>
        </p:nvSpPr>
        <p:spPr>
          <a:xfrm>
            <a:off x="1325880"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card-182"/>
          <p:cNvSpPr/>
          <p:nvPr/>
        </p:nvSpPr>
        <p:spPr>
          <a:xfrm>
            <a:off x="548640" y="2194560"/>
            <a:ext cx="2103120" cy="3246120"/>
          </a:xfrm>
          <a:prstGeom prst="roundRect">
            <a:avLst>
              <a:gd name="adj" fmla="val 5217"/>
            </a:avLst>
          </a:prstGeom>
          <a:solidFill>
            <a:schemeClr val="bg2"/>
          </a:solidFill>
          <a:ln/>
        </p:spPr>
      </p:sp>
      <p:sp>
        <p:nvSpPr>
          <p:cNvPr id="7" name="text-183"/>
          <p:cNvSpPr txBox="1"/>
          <p:nvPr/>
        </p:nvSpPr>
        <p:spPr>
          <a:xfrm>
            <a:off x="731520" y="2377440"/>
            <a:ext cx="1737360" cy="320040"/>
          </a:xfrm>
          <a:prstGeom prst="rect">
            <a:avLst/>
          </a:prstGeom>
          <a:noFill/>
          <a:ln/>
        </p:spPr>
        <p:txBody>
          <a:bodyPr wrap="square" lIns="0" tIns="0" rIns="0" bIns="0" rtlCol="0" anchor="t"/>
          <a:lstStyle/>
          <a:p>
            <a:pPr indent="0" marL="0">
              <a:buNone/>
            </a:pPr>
            <a:r>
              <a:rPr lang="en-US" sz="1800" b="1" dirty="0">
                <a:solidFill>
                  <a:schemeClr val="tx1"/>
                </a:solidFill>
              </a:rPr>
              <a:t>Week 1</a:t>
            </a:r>
            <a:endParaRPr lang="en-US" sz="1800" dirty="0"/>
          </a:p>
        </p:txBody>
      </p:sp>
      <p:sp>
        <p:nvSpPr>
          <p:cNvPr id="8" name="text-184"/>
          <p:cNvSpPr txBox="1"/>
          <p:nvPr/>
        </p:nvSpPr>
        <p:spPr>
          <a:xfrm>
            <a:off x="731520" y="2724912"/>
            <a:ext cx="1737360" cy="274320"/>
          </a:xfrm>
          <a:prstGeom prst="rect">
            <a:avLst/>
          </a:prstGeom>
          <a:noFill/>
          <a:ln/>
        </p:spPr>
        <p:txBody>
          <a:bodyPr wrap="square" lIns="0" tIns="0" rIns="0" bIns="0" rtlCol="0" anchor="t"/>
          <a:lstStyle/>
          <a:p>
            <a:pPr indent="0" marL="0">
              <a:buNone/>
            </a:pPr>
            <a:r>
              <a:rPr lang="en-US" sz="1200" b="1" dirty="0">
                <a:solidFill>
                  <a:schemeClr val="accent1"/>
                </a:solidFill>
              </a:rPr>
              <a:t>Day 1 – 7</a:t>
            </a:r>
            <a:endParaRPr lang="en-US" sz="1200" dirty="0"/>
          </a:p>
        </p:txBody>
      </p:sp>
      <p:sp>
        <p:nvSpPr>
          <p:cNvPr id="9" name="text-185"/>
          <p:cNvSpPr txBox="1"/>
          <p:nvPr/>
        </p:nvSpPr>
        <p:spPr>
          <a:xfrm>
            <a:off x="731520" y="3154680"/>
            <a:ext cx="1737360" cy="2148840"/>
          </a:xfrm>
          <a:prstGeom prst="rect">
            <a:avLst/>
          </a:prstGeom>
          <a:noFill/>
          <a:ln/>
        </p:spPr>
        <p:txBody>
          <a:bodyPr wrap="square" lIns="0" tIns="0" rIns="0" bIns="0" rtlCol="0" anchor="t"/>
          <a:lstStyle/>
          <a:p>
            <a:pPr indent="0" marL="0">
              <a:buNone/>
            </a:pPr>
            <a:r>
              <a:rPr lang="en-US" sz="1400" dirty="0">
                <a:solidFill>
                  <a:schemeClr val="tx1"/>
                </a:solidFill>
              </a:rPr>
              <a:t>Orientation, requirements, scope, environment setup, architecture</a:t>
            </a:r>
            <a:endParaRPr lang="en-US" sz="1400" dirty="0"/>
          </a:p>
        </p:txBody>
      </p:sp>
      <p:sp>
        <p:nvSpPr>
          <p:cNvPr id="10" name="numbg-186"/>
          <p:cNvSpPr/>
          <p:nvPr/>
        </p:nvSpPr>
        <p:spPr>
          <a:xfrm>
            <a:off x="3575304" y="1417320"/>
            <a:ext cx="548640" cy="548640"/>
          </a:xfrm>
          <a:prstGeom prst="ellipse">
            <a:avLst/>
          </a:prstGeom>
          <a:solidFill>
            <a:schemeClr val="accent1"/>
          </a:solidFill>
          <a:ln/>
        </p:spPr>
      </p:sp>
      <p:sp>
        <p:nvSpPr>
          <p:cNvPr id="11" name="num-187"/>
          <p:cNvSpPr txBox="1"/>
          <p:nvPr/>
        </p:nvSpPr>
        <p:spPr>
          <a:xfrm>
            <a:off x="3575304"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card-188"/>
          <p:cNvSpPr/>
          <p:nvPr/>
        </p:nvSpPr>
        <p:spPr>
          <a:xfrm>
            <a:off x="2798064" y="2194560"/>
            <a:ext cx="2103120" cy="3246120"/>
          </a:xfrm>
          <a:prstGeom prst="roundRect">
            <a:avLst>
              <a:gd name="adj" fmla="val 5217"/>
            </a:avLst>
          </a:prstGeom>
          <a:solidFill>
            <a:schemeClr val="bg2"/>
          </a:solidFill>
          <a:ln/>
        </p:spPr>
      </p:sp>
      <p:sp>
        <p:nvSpPr>
          <p:cNvPr id="13" name="text-189"/>
          <p:cNvSpPr txBox="1"/>
          <p:nvPr/>
        </p:nvSpPr>
        <p:spPr>
          <a:xfrm>
            <a:off x="2980944" y="2377440"/>
            <a:ext cx="1737360" cy="320040"/>
          </a:xfrm>
          <a:prstGeom prst="rect">
            <a:avLst/>
          </a:prstGeom>
          <a:noFill/>
          <a:ln/>
        </p:spPr>
        <p:txBody>
          <a:bodyPr wrap="square" lIns="0" tIns="0" rIns="0" bIns="0" rtlCol="0" anchor="t"/>
          <a:lstStyle/>
          <a:p>
            <a:pPr indent="0" marL="0">
              <a:buNone/>
            </a:pPr>
            <a:r>
              <a:rPr lang="en-US" sz="1800" b="1" dirty="0">
                <a:solidFill>
                  <a:schemeClr val="tx1"/>
                </a:solidFill>
              </a:rPr>
              <a:t>Week 2</a:t>
            </a:r>
            <a:endParaRPr lang="en-US" sz="1800" dirty="0"/>
          </a:p>
        </p:txBody>
      </p:sp>
      <p:sp>
        <p:nvSpPr>
          <p:cNvPr id="14" name="text-190"/>
          <p:cNvSpPr txBox="1"/>
          <p:nvPr/>
        </p:nvSpPr>
        <p:spPr>
          <a:xfrm>
            <a:off x="2980944" y="2724912"/>
            <a:ext cx="1737360" cy="274320"/>
          </a:xfrm>
          <a:prstGeom prst="rect">
            <a:avLst/>
          </a:prstGeom>
          <a:noFill/>
          <a:ln/>
        </p:spPr>
        <p:txBody>
          <a:bodyPr wrap="square" lIns="0" tIns="0" rIns="0" bIns="0" rtlCol="0" anchor="t"/>
          <a:lstStyle/>
          <a:p>
            <a:pPr indent="0" marL="0">
              <a:buNone/>
            </a:pPr>
            <a:r>
              <a:rPr lang="en-US" sz="1200" b="1" dirty="0">
                <a:solidFill>
                  <a:schemeClr val="accent1"/>
                </a:solidFill>
              </a:rPr>
              <a:t>Day 8 – 14</a:t>
            </a:r>
            <a:endParaRPr lang="en-US" sz="1200" dirty="0"/>
          </a:p>
        </p:txBody>
      </p:sp>
      <p:sp>
        <p:nvSpPr>
          <p:cNvPr id="15" name="text-191"/>
          <p:cNvSpPr txBox="1"/>
          <p:nvPr/>
        </p:nvSpPr>
        <p:spPr>
          <a:xfrm>
            <a:off x="2980944" y="3154680"/>
            <a:ext cx="1737360" cy="2148840"/>
          </a:xfrm>
          <a:prstGeom prst="rect">
            <a:avLst/>
          </a:prstGeom>
          <a:noFill/>
          <a:ln/>
        </p:spPr>
        <p:txBody>
          <a:bodyPr wrap="square" lIns="0" tIns="0" rIns="0" bIns="0" rtlCol="0" anchor="t"/>
          <a:lstStyle/>
          <a:p>
            <a:pPr indent="0" marL="0">
              <a:buNone/>
            </a:pPr>
            <a:r>
              <a:rPr lang="en-US" sz="1400" dirty="0">
                <a:solidFill>
                  <a:schemeClr val="tx1"/>
                </a:solidFill>
              </a:rPr>
              <a:t>Wireframes, ER diagram, Express setup, models, registration, login and JWT</a:t>
            </a:r>
            <a:endParaRPr lang="en-US" sz="1400" dirty="0"/>
          </a:p>
        </p:txBody>
      </p:sp>
      <p:sp>
        <p:nvSpPr>
          <p:cNvPr id="16" name="numbg-192"/>
          <p:cNvSpPr/>
          <p:nvPr/>
        </p:nvSpPr>
        <p:spPr>
          <a:xfrm>
            <a:off x="5824728" y="1417320"/>
            <a:ext cx="548640" cy="548640"/>
          </a:xfrm>
          <a:prstGeom prst="ellipse">
            <a:avLst/>
          </a:prstGeom>
          <a:solidFill>
            <a:schemeClr val="accent1"/>
          </a:solidFill>
          <a:ln/>
        </p:spPr>
      </p:sp>
      <p:sp>
        <p:nvSpPr>
          <p:cNvPr id="17" name="num-193"/>
          <p:cNvSpPr txBox="1"/>
          <p:nvPr/>
        </p:nvSpPr>
        <p:spPr>
          <a:xfrm>
            <a:off x="5824728"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card-194"/>
          <p:cNvSpPr/>
          <p:nvPr/>
        </p:nvSpPr>
        <p:spPr>
          <a:xfrm>
            <a:off x="5047488" y="2194560"/>
            <a:ext cx="2103120" cy="3246120"/>
          </a:xfrm>
          <a:prstGeom prst="roundRect">
            <a:avLst>
              <a:gd name="adj" fmla="val 5217"/>
            </a:avLst>
          </a:prstGeom>
          <a:solidFill>
            <a:schemeClr val="bg2"/>
          </a:solidFill>
          <a:ln/>
        </p:spPr>
      </p:sp>
      <p:sp>
        <p:nvSpPr>
          <p:cNvPr id="19" name="text-195"/>
          <p:cNvSpPr txBox="1"/>
          <p:nvPr/>
        </p:nvSpPr>
        <p:spPr>
          <a:xfrm>
            <a:off x="5230368" y="2377440"/>
            <a:ext cx="1737360" cy="320040"/>
          </a:xfrm>
          <a:prstGeom prst="rect">
            <a:avLst/>
          </a:prstGeom>
          <a:noFill/>
          <a:ln/>
        </p:spPr>
        <p:txBody>
          <a:bodyPr wrap="square" lIns="0" tIns="0" rIns="0" bIns="0" rtlCol="0" anchor="t"/>
          <a:lstStyle/>
          <a:p>
            <a:pPr indent="0" marL="0">
              <a:buNone/>
            </a:pPr>
            <a:r>
              <a:rPr lang="en-US" sz="1800" b="1" dirty="0">
                <a:solidFill>
                  <a:schemeClr val="tx1"/>
                </a:solidFill>
              </a:rPr>
              <a:t>Week 3</a:t>
            </a:r>
            <a:endParaRPr lang="en-US" sz="1800" dirty="0"/>
          </a:p>
        </p:txBody>
      </p:sp>
      <p:sp>
        <p:nvSpPr>
          <p:cNvPr id="20" name="text-196"/>
          <p:cNvSpPr txBox="1"/>
          <p:nvPr/>
        </p:nvSpPr>
        <p:spPr>
          <a:xfrm>
            <a:off x="5230368" y="2724912"/>
            <a:ext cx="1737360" cy="274320"/>
          </a:xfrm>
          <a:prstGeom prst="rect">
            <a:avLst/>
          </a:prstGeom>
          <a:noFill/>
          <a:ln/>
        </p:spPr>
        <p:txBody>
          <a:bodyPr wrap="square" lIns="0" tIns="0" rIns="0" bIns="0" rtlCol="0" anchor="t"/>
          <a:lstStyle/>
          <a:p>
            <a:pPr indent="0" marL="0">
              <a:buNone/>
            </a:pPr>
            <a:r>
              <a:rPr lang="en-US" sz="1200" b="1" dirty="0">
                <a:solidFill>
                  <a:schemeClr val="accent1"/>
                </a:solidFill>
              </a:rPr>
              <a:t>Day 15 – 21</a:t>
            </a:r>
            <a:endParaRPr lang="en-US" sz="1200" dirty="0"/>
          </a:p>
        </p:txBody>
      </p:sp>
      <p:sp>
        <p:nvSpPr>
          <p:cNvPr id="21" name="text-197"/>
          <p:cNvSpPr txBox="1"/>
          <p:nvPr/>
        </p:nvSpPr>
        <p:spPr>
          <a:xfrm>
            <a:off x="5230368" y="3154680"/>
            <a:ext cx="1737360" cy="2148840"/>
          </a:xfrm>
          <a:prstGeom prst="rect">
            <a:avLst/>
          </a:prstGeom>
          <a:noFill/>
          <a:ln/>
        </p:spPr>
        <p:txBody>
          <a:bodyPr wrap="square" lIns="0" tIns="0" rIns="0" bIns="0" rtlCol="0" anchor="t"/>
          <a:lstStyle/>
          <a:p>
            <a:pPr indent="0" marL="0">
              <a:buNone/>
            </a:pPr>
            <a:r>
              <a:rPr lang="en-US" sz="1400" dirty="0">
                <a:solidFill>
                  <a:schemeClr val="tx1"/>
                </a:solidFill>
              </a:rPr>
              <a:t>Task CRUD APIs, search and filters, React setup, API integration</a:t>
            </a:r>
            <a:endParaRPr lang="en-US" sz="1400" dirty="0"/>
          </a:p>
        </p:txBody>
      </p:sp>
      <p:sp>
        <p:nvSpPr>
          <p:cNvPr id="22" name="numbg-198"/>
          <p:cNvSpPr/>
          <p:nvPr/>
        </p:nvSpPr>
        <p:spPr>
          <a:xfrm>
            <a:off x="8074152" y="1417320"/>
            <a:ext cx="548640" cy="548640"/>
          </a:xfrm>
          <a:prstGeom prst="ellipse">
            <a:avLst/>
          </a:prstGeom>
          <a:solidFill>
            <a:schemeClr val="accent1"/>
          </a:solidFill>
          <a:ln/>
        </p:spPr>
      </p:sp>
      <p:sp>
        <p:nvSpPr>
          <p:cNvPr id="23" name="num-199"/>
          <p:cNvSpPr txBox="1"/>
          <p:nvPr/>
        </p:nvSpPr>
        <p:spPr>
          <a:xfrm>
            <a:off x="8074152"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card-200"/>
          <p:cNvSpPr/>
          <p:nvPr/>
        </p:nvSpPr>
        <p:spPr>
          <a:xfrm>
            <a:off x="7296912" y="2194560"/>
            <a:ext cx="2103120" cy="3246120"/>
          </a:xfrm>
          <a:prstGeom prst="roundRect">
            <a:avLst>
              <a:gd name="adj" fmla="val 5217"/>
            </a:avLst>
          </a:prstGeom>
          <a:solidFill>
            <a:schemeClr val="bg2"/>
          </a:solidFill>
          <a:ln/>
        </p:spPr>
      </p:sp>
      <p:sp>
        <p:nvSpPr>
          <p:cNvPr id="25" name="text-201"/>
          <p:cNvSpPr txBox="1"/>
          <p:nvPr/>
        </p:nvSpPr>
        <p:spPr>
          <a:xfrm>
            <a:off x="7479792" y="2377440"/>
            <a:ext cx="1737360" cy="320040"/>
          </a:xfrm>
          <a:prstGeom prst="rect">
            <a:avLst/>
          </a:prstGeom>
          <a:noFill/>
          <a:ln/>
        </p:spPr>
        <p:txBody>
          <a:bodyPr wrap="square" lIns="0" tIns="0" rIns="0" bIns="0" rtlCol="0" anchor="t"/>
          <a:lstStyle/>
          <a:p>
            <a:pPr indent="0" marL="0">
              <a:buNone/>
            </a:pPr>
            <a:r>
              <a:rPr lang="en-US" sz="1800" b="1" dirty="0">
                <a:solidFill>
                  <a:schemeClr val="tx1"/>
                </a:solidFill>
              </a:rPr>
              <a:t>Week 4</a:t>
            </a:r>
            <a:endParaRPr lang="en-US" sz="1800" dirty="0"/>
          </a:p>
        </p:txBody>
      </p:sp>
      <p:sp>
        <p:nvSpPr>
          <p:cNvPr id="26" name="text-202"/>
          <p:cNvSpPr txBox="1"/>
          <p:nvPr/>
        </p:nvSpPr>
        <p:spPr>
          <a:xfrm>
            <a:off x="7479792" y="2724912"/>
            <a:ext cx="1737360" cy="274320"/>
          </a:xfrm>
          <a:prstGeom prst="rect">
            <a:avLst/>
          </a:prstGeom>
          <a:noFill/>
          <a:ln/>
        </p:spPr>
        <p:txBody>
          <a:bodyPr wrap="square" lIns="0" tIns="0" rIns="0" bIns="0" rtlCol="0" anchor="t"/>
          <a:lstStyle/>
          <a:p>
            <a:pPr indent="0" marL="0">
              <a:buNone/>
            </a:pPr>
            <a:r>
              <a:rPr lang="en-US" sz="1200" b="1" dirty="0">
                <a:solidFill>
                  <a:schemeClr val="accent1"/>
                </a:solidFill>
              </a:rPr>
              <a:t>Day 22 – 28</a:t>
            </a:r>
            <a:endParaRPr lang="en-US" sz="1200" dirty="0"/>
          </a:p>
        </p:txBody>
      </p:sp>
      <p:sp>
        <p:nvSpPr>
          <p:cNvPr id="27" name="text-203"/>
          <p:cNvSpPr txBox="1"/>
          <p:nvPr/>
        </p:nvSpPr>
        <p:spPr>
          <a:xfrm>
            <a:off x="7479792" y="3154680"/>
            <a:ext cx="1737360" cy="2148840"/>
          </a:xfrm>
          <a:prstGeom prst="rect">
            <a:avLst/>
          </a:prstGeom>
          <a:noFill/>
          <a:ln/>
        </p:spPr>
        <p:txBody>
          <a:bodyPr wrap="square" lIns="0" tIns="0" rIns="0" bIns="0" rtlCol="0" anchor="t"/>
          <a:lstStyle/>
          <a:p>
            <a:pPr indent="0" marL="0">
              <a:buNone/>
            </a:pPr>
            <a:r>
              <a:rPr lang="en-US" sz="1400" dirty="0">
                <a:solidFill>
                  <a:schemeClr val="tx1"/>
                </a:solidFill>
              </a:rPr>
              <a:t>Priority algorithm, reminders, dashboard, responsive UI, testing, deployment</a:t>
            </a:r>
            <a:endParaRPr lang="en-US" sz="1400" dirty="0"/>
          </a:p>
        </p:txBody>
      </p:sp>
      <p:sp>
        <p:nvSpPr>
          <p:cNvPr id="28" name="numbg-204"/>
          <p:cNvSpPr/>
          <p:nvPr/>
        </p:nvSpPr>
        <p:spPr>
          <a:xfrm>
            <a:off x="10323576" y="1417320"/>
            <a:ext cx="548640" cy="548640"/>
          </a:xfrm>
          <a:prstGeom prst="ellipse">
            <a:avLst/>
          </a:prstGeom>
          <a:solidFill>
            <a:schemeClr val="accent2"/>
          </a:solidFill>
          <a:ln/>
        </p:spPr>
      </p:sp>
      <p:sp>
        <p:nvSpPr>
          <p:cNvPr id="29" name="num-205"/>
          <p:cNvSpPr txBox="1"/>
          <p:nvPr/>
        </p:nvSpPr>
        <p:spPr>
          <a:xfrm>
            <a:off x="10323576" y="14173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30" name="card-206"/>
          <p:cNvSpPr/>
          <p:nvPr/>
        </p:nvSpPr>
        <p:spPr>
          <a:xfrm>
            <a:off x="9546336" y="2194560"/>
            <a:ext cx="2103120" cy="3246120"/>
          </a:xfrm>
          <a:prstGeom prst="roundRect">
            <a:avLst>
              <a:gd name="adj" fmla="val 5217"/>
            </a:avLst>
          </a:prstGeom>
          <a:solidFill>
            <a:schemeClr val="bg2"/>
          </a:solidFill>
          <a:ln/>
        </p:spPr>
      </p:sp>
      <p:sp>
        <p:nvSpPr>
          <p:cNvPr id="31" name="text-207"/>
          <p:cNvSpPr txBox="1"/>
          <p:nvPr/>
        </p:nvSpPr>
        <p:spPr>
          <a:xfrm>
            <a:off x="9729216" y="2377440"/>
            <a:ext cx="1737360" cy="320040"/>
          </a:xfrm>
          <a:prstGeom prst="rect">
            <a:avLst/>
          </a:prstGeom>
          <a:noFill/>
          <a:ln/>
        </p:spPr>
        <p:txBody>
          <a:bodyPr wrap="square" lIns="0" tIns="0" rIns="0" bIns="0" rtlCol="0" anchor="t"/>
          <a:lstStyle/>
          <a:p>
            <a:pPr indent="0" marL="0">
              <a:buNone/>
            </a:pPr>
            <a:r>
              <a:rPr lang="en-US" sz="1800" b="1" dirty="0">
                <a:solidFill>
                  <a:schemeClr val="tx1"/>
                </a:solidFill>
              </a:rPr>
              <a:t>Final days</a:t>
            </a:r>
            <a:endParaRPr lang="en-US" sz="1800" dirty="0"/>
          </a:p>
        </p:txBody>
      </p:sp>
      <p:sp>
        <p:nvSpPr>
          <p:cNvPr id="32" name="text-208"/>
          <p:cNvSpPr txBox="1"/>
          <p:nvPr/>
        </p:nvSpPr>
        <p:spPr>
          <a:xfrm>
            <a:off x="9729216" y="2724912"/>
            <a:ext cx="1737360" cy="274320"/>
          </a:xfrm>
          <a:prstGeom prst="rect">
            <a:avLst/>
          </a:prstGeom>
          <a:noFill/>
          <a:ln/>
        </p:spPr>
        <p:txBody>
          <a:bodyPr wrap="square" lIns="0" tIns="0" rIns="0" bIns="0" rtlCol="0" anchor="t"/>
          <a:lstStyle/>
          <a:p>
            <a:pPr indent="0" marL="0">
              <a:buNone/>
            </a:pPr>
            <a:r>
              <a:rPr lang="en-US" sz="1200" b="1" dirty="0">
                <a:solidFill>
                  <a:schemeClr val="accent1"/>
                </a:solidFill>
              </a:rPr>
              <a:t>Day 29 – 30</a:t>
            </a:r>
            <a:endParaRPr lang="en-US" sz="1200" dirty="0"/>
          </a:p>
        </p:txBody>
      </p:sp>
      <p:sp>
        <p:nvSpPr>
          <p:cNvPr id="33" name="text-209"/>
          <p:cNvSpPr txBox="1"/>
          <p:nvPr/>
        </p:nvSpPr>
        <p:spPr>
          <a:xfrm>
            <a:off x="9729216" y="3154680"/>
            <a:ext cx="1737360" cy="2148840"/>
          </a:xfrm>
          <a:prstGeom prst="rect">
            <a:avLst/>
          </a:prstGeom>
          <a:noFill/>
          <a:ln/>
        </p:spPr>
        <p:txBody>
          <a:bodyPr wrap="square" lIns="0" tIns="0" rIns="0" bIns="0" rtlCol="0" anchor="t"/>
          <a:lstStyle/>
          <a:p>
            <a:pPr indent="0" marL="0">
              <a:buNone/>
            </a:pPr>
            <a:r>
              <a:rPr lang="en-US" sz="1400" dirty="0">
                <a:solidFill>
                  <a:schemeClr val="tx1"/>
                </a:solidFill>
              </a:rPr>
              <a:t>Key findings, validation, documentation and final report</a:t>
            </a:r>
            <a:endParaRPr lang="en-US" sz="1400" dirty="0"/>
          </a:p>
        </p:txBody>
      </p:sp>
      <p:sp>
        <p:nvSpPr>
          <p:cNvPr id="34" name="card-210"/>
          <p:cNvSpPr/>
          <p:nvPr/>
        </p:nvSpPr>
        <p:spPr>
          <a:xfrm>
            <a:off x="548640" y="5669280"/>
            <a:ext cx="11091672" cy="621792"/>
          </a:xfrm>
          <a:prstGeom prst="roundRect">
            <a:avLst>
              <a:gd name="adj" fmla="val 17647"/>
            </a:avLst>
          </a:prstGeom>
          <a:solidFill>
            <a:schemeClr val="tx1"/>
          </a:solidFill>
          <a:ln/>
        </p:spPr>
      </p:sp>
      <p:sp>
        <p:nvSpPr>
          <p:cNvPr id="35" name="text-211"/>
          <p:cNvSpPr txBox="1"/>
          <p:nvPr/>
        </p:nvSpPr>
        <p:spPr>
          <a:xfrm>
            <a:off x="548640" y="5669280"/>
            <a:ext cx="11091672" cy="621792"/>
          </a:xfrm>
          <a:prstGeom prst="rect">
            <a:avLst/>
          </a:prstGeom>
          <a:noFill/>
          <a:ln/>
        </p:spPr>
        <p:txBody>
          <a:bodyPr wrap="square" lIns="0" tIns="0" rIns="0" bIns="0" rtlCol="0" anchor="ctr"/>
          <a:lstStyle/>
          <a:p>
            <a:pPr algn="ctr" indent="0" marL="0">
              <a:buNone/>
            </a:pPr>
            <a:r>
              <a:rPr lang="en-US" sz="1600" b="1" dirty="0">
                <a:solidFill>
                  <a:schemeClr val="bg1"/>
                </a:solidFill>
              </a:rPr>
              <a:t>30 days of project-based work, reviewed regularly by Mr. D. Kumaresan, Team Leader</a:t>
            </a:r>
            <a:endParaRPr lang="en-US" sz="1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Smart priority algorithm</a:t>
            </a:r>
            <a:endParaRPr lang="en-US" sz="3400" dirty="0"/>
          </a:p>
        </p:txBody>
      </p:sp>
      <p:sp>
        <p:nvSpPr>
          <p:cNvPr id="3" name="card-212"/>
          <p:cNvSpPr/>
          <p:nvPr/>
        </p:nvSpPr>
        <p:spPr>
          <a:xfrm>
            <a:off x="548640" y="1371600"/>
            <a:ext cx="5760720" cy="3611880"/>
          </a:xfrm>
          <a:prstGeom prst="roundRect">
            <a:avLst>
              <a:gd name="adj" fmla="val 3038"/>
            </a:avLst>
          </a:prstGeom>
          <a:solidFill>
            <a:schemeClr val="bg2"/>
          </a:solidFill>
          <a:ln/>
        </p:spPr>
      </p:sp>
      <p:sp>
        <p:nvSpPr>
          <p:cNvPr id="4" name="text-213"/>
          <p:cNvSpPr txBox="1"/>
          <p:nvPr/>
        </p:nvSpPr>
        <p:spPr>
          <a:xfrm>
            <a:off x="777240" y="1554480"/>
            <a:ext cx="5029200" cy="274320"/>
          </a:xfrm>
          <a:prstGeom prst="rect">
            <a:avLst/>
          </a:prstGeom>
          <a:noFill/>
          <a:ln/>
        </p:spPr>
        <p:txBody>
          <a:bodyPr wrap="square" lIns="0" tIns="0" rIns="0" bIns="0" rtlCol="0" anchor="t"/>
          <a:lstStyle/>
          <a:p>
            <a:pPr indent="0" marL="0">
              <a:buNone/>
            </a:pPr>
            <a:r>
              <a:rPr lang="en-US" sz="1200" b="1" dirty="0">
                <a:solidFill>
                  <a:schemeClr val="accent6"/>
                </a:solidFill>
              </a:rPr>
              <a:t>PRIORITY WEIGHT</a:t>
            </a:r>
            <a:endParaRPr lang="en-US" sz="1200" dirty="0"/>
          </a:p>
        </p:txBody>
      </p:sp>
      <p:sp>
        <p:nvSpPr>
          <p:cNvPr id="5" name="weight-214"/>
          <p:cNvSpPr/>
          <p:nvPr/>
        </p:nvSpPr>
        <p:spPr>
          <a:xfrm>
            <a:off x="777240" y="1874520"/>
            <a:ext cx="1645920" cy="868680"/>
          </a:xfrm>
          <a:prstGeom prst="roundRect">
            <a:avLst>
              <a:gd name="adj" fmla="val 10526"/>
            </a:avLst>
          </a:prstGeom>
          <a:solidFill>
            <a:schemeClr val="accent4"/>
          </a:solidFill>
          <a:ln/>
        </p:spPr>
      </p:sp>
      <p:sp>
        <p:nvSpPr>
          <p:cNvPr id="6" name="text-215"/>
          <p:cNvSpPr txBox="1"/>
          <p:nvPr/>
        </p:nvSpPr>
        <p:spPr>
          <a:xfrm>
            <a:off x="777240" y="1938528"/>
            <a:ext cx="1645920" cy="274320"/>
          </a:xfrm>
          <a:prstGeom prst="rect">
            <a:avLst/>
          </a:prstGeom>
          <a:noFill/>
          <a:ln/>
        </p:spPr>
        <p:txBody>
          <a:bodyPr wrap="square" lIns="0" tIns="0" rIns="0" bIns="0" rtlCol="0" anchor="t"/>
          <a:lstStyle/>
          <a:p>
            <a:pPr algn="ctr" indent="0" marL="0">
              <a:buNone/>
            </a:pPr>
            <a:r>
              <a:rPr lang="en-US" sz="1400" b="1" dirty="0">
                <a:solidFill>
                  <a:schemeClr val="bg1"/>
                </a:solidFill>
              </a:rPr>
              <a:t>High</a:t>
            </a:r>
            <a:endParaRPr lang="en-US" sz="1400" dirty="0"/>
          </a:p>
        </p:txBody>
      </p:sp>
      <p:sp>
        <p:nvSpPr>
          <p:cNvPr id="7" name="text-216"/>
          <p:cNvSpPr txBox="1"/>
          <p:nvPr/>
        </p:nvSpPr>
        <p:spPr>
          <a:xfrm>
            <a:off x="777240" y="2194560"/>
            <a:ext cx="1645920" cy="50292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3</a:t>
            </a:r>
            <a:endParaRPr lang="en-US" sz="2800" dirty="0"/>
          </a:p>
        </p:txBody>
      </p:sp>
      <p:sp>
        <p:nvSpPr>
          <p:cNvPr id="8" name="weight-217"/>
          <p:cNvSpPr/>
          <p:nvPr/>
        </p:nvSpPr>
        <p:spPr>
          <a:xfrm>
            <a:off x="2560320" y="1874520"/>
            <a:ext cx="1645920" cy="868680"/>
          </a:xfrm>
          <a:prstGeom prst="roundRect">
            <a:avLst>
              <a:gd name="adj" fmla="val 10526"/>
            </a:avLst>
          </a:prstGeom>
          <a:solidFill>
            <a:schemeClr val="accent2"/>
          </a:solidFill>
          <a:ln/>
        </p:spPr>
      </p:sp>
      <p:sp>
        <p:nvSpPr>
          <p:cNvPr id="9" name="text-218"/>
          <p:cNvSpPr txBox="1"/>
          <p:nvPr/>
        </p:nvSpPr>
        <p:spPr>
          <a:xfrm>
            <a:off x="2560320" y="1938528"/>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rPr>
              <a:t>Medium</a:t>
            </a:r>
            <a:endParaRPr lang="en-US" sz="1400" dirty="0"/>
          </a:p>
        </p:txBody>
      </p:sp>
      <p:sp>
        <p:nvSpPr>
          <p:cNvPr id="10" name="text-219"/>
          <p:cNvSpPr txBox="1"/>
          <p:nvPr/>
        </p:nvSpPr>
        <p:spPr>
          <a:xfrm>
            <a:off x="2560320" y="2194560"/>
            <a:ext cx="1645920" cy="502920"/>
          </a:xfrm>
          <a:prstGeom prst="rect">
            <a:avLst/>
          </a:prstGeom>
          <a:noFill/>
          <a:ln/>
        </p:spPr>
        <p:txBody>
          <a:bodyPr wrap="square" lIns="0" tIns="0" rIns="0" bIns="0" rtlCol="0" anchor="t"/>
          <a:lstStyle/>
          <a:p>
            <a:pPr algn="ctr" indent="0" marL="0">
              <a:buNone/>
            </a:pPr>
            <a:r>
              <a:rPr lang="en-US" sz="2800" b="1" dirty="0">
                <a:solidFill>
                  <a:schemeClr val="tx1"/>
                </a:solidFill>
                <a:latin typeface="Cambria" pitchFamily="34" charset="0"/>
                <a:ea typeface="Cambria" pitchFamily="34" charset="-122"/>
                <a:cs typeface="Cambria" pitchFamily="34" charset="-120"/>
              </a:rPr>
              <a:t>2</a:t>
            </a:r>
            <a:endParaRPr lang="en-US" sz="2800" dirty="0"/>
          </a:p>
        </p:txBody>
      </p:sp>
      <p:sp>
        <p:nvSpPr>
          <p:cNvPr id="11" name="weight-220"/>
          <p:cNvSpPr/>
          <p:nvPr/>
        </p:nvSpPr>
        <p:spPr>
          <a:xfrm>
            <a:off x="4343400" y="1874520"/>
            <a:ext cx="1645920" cy="868680"/>
          </a:xfrm>
          <a:prstGeom prst="roundRect">
            <a:avLst>
              <a:gd name="adj" fmla="val 10526"/>
            </a:avLst>
          </a:prstGeom>
          <a:solidFill>
            <a:schemeClr val="accent5"/>
          </a:solidFill>
          <a:ln/>
        </p:spPr>
      </p:sp>
      <p:sp>
        <p:nvSpPr>
          <p:cNvPr id="12" name="text-221"/>
          <p:cNvSpPr txBox="1"/>
          <p:nvPr/>
        </p:nvSpPr>
        <p:spPr>
          <a:xfrm>
            <a:off x="4343400" y="1938528"/>
            <a:ext cx="1645920" cy="274320"/>
          </a:xfrm>
          <a:prstGeom prst="rect">
            <a:avLst/>
          </a:prstGeom>
          <a:noFill/>
          <a:ln/>
        </p:spPr>
        <p:txBody>
          <a:bodyPr wrap="square" lIns="0" tIns="0" rIns="0" bIns="0" rtlCol="0" anchor="t"/>
          <a:lstStyle/>
          <a:p>
            <a:pPr algn="ctr" indent="0" marL="0">
              <a:buNone/>
            </a:pPr>
            <a:r>
              <a:rPr lang="en-US" sz="1400" b="1" dirty="0">
                <a:solidFill>
                  <a:schemeClr val="bg1"/>
                </a:solidFill>
              </a:rPr>
              <a:t>Low</a:t>
            </a:r>
            <a:endParaRPr lang="en-US" sz="1400" dirty="0"/>
          </a:p>
        </p:txBody>
      </p:sp>
      <p:sp>
        <p:nvSpPr>
          <p:cNvPr id="13" name="text-222"/>
          <p:cNvSpPr txBox="1"/>
          <p:nvPr/>
        </p:nvSpPr>
        <p:spPr>
          <a:xfrm>
            <a:off x="4343400" y="2194560"/>
            <a:ext cx="1645920" cy="50292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1</a:t>
            </a:r>
            <a:endParaRPr lang="en-US" sz="2800" dirty="0"/>
          </a:p>
        </p:txBody>
      </p:sp>
      <p:sp>
        <p:nvSpPr>
          <p:cNvPr id="14" name="text-223"/>
          <p:cNvSpPr txBox="1"/>
          <p:nvPr/>
        </p:nvSpPr>
        <p:spPr>
          <a:xfrm>
            <a:off x="777240" y="3017520"/>
            <a:ext cx="5029200" cy="274320"/>
          </a:xfrm>
          <a:prstGeom prst="rect">
            <a:avLst/>
          </a:prstGeom>
          <a:noFill/>
          <a:ln/>
        </p:spPr>
        <p:txBody>
          <a:bodyPr wrap="square" lIns="0" tIns="0" rIns="0" bIns="0" rtlCol="0" anchor="t"/>
          <a:lstStyle/>
          <a:p>
            <a:pPr indent="0" marL="0">
              <a:buNone/>
            </a:pPr>
            <a:r>
              <a:rPr lang="en-US" sz="1200" b="1" dirty="0">
                <a:solidFill>
                  <a:schemeClr val="accent6"/>
                </a:solidFill>
              </a:rPr>
              <a:t>URGENCY POINTS (BY DAYS LEFT)</a:t>
            </a:r>
            <a:endParaRPr lang="en-US" sz="1200" dirty="0"/>
          </a:p>
        </p:txBody>
      </p:sp>
      <p:sp>
        <p:nvSpPr>
          <p:cNvPr id="15" name="urgency-224"/>
          <p:cNvSpPr/>
          <p:nvPr/>
        </p:nvSpPr>
        <p:spPr>
          <a:xfrm>
            <a:off x="777240" y="3337560"/>
            <a:ext cx="987552" cy="1325880"/>
          </a:xfrm>
          <a:prstGeom prst="roundRect">
            <a:avLst>
              <a:gd name="adj" fmla="val 9259"/>
            </a:avLst>
          </a:prstGeom>
          <a:solidFill>
            <a:schemeClr val="bg1"/>
          </a:solidFill>
          <a:ln/>
          <a:effectLst>
            <a:outerShdw sx="100000" sy="100000" kx="0" ky="0" algn="bl" rotWithShape="0" blurRad="101600" dist="25400" dir="5400000">
              <a:srgbClr val="000000">
                <a:alpha val="14000"/>
              </a:srgbClr>
            </a:outerShdw>
          </a:effectLst>
        </p:spPr>
      </p:sp>
      <p:sp>
        <p:nvSpPr>
          <p:cNvPr id="16" name="text-225"/>
          <p:cNvSpPr txBox="1"/>
          <p:nvPr/>
        </p:nvSpPr>
        <p:spPr>
          <a:xfrm>
            <a:off x="777240" y="3474720"/>
            <a:ext cx="987552" cy="274320"/>
          </a:xfrm>
          <a:prstGeom prst="rect">
            <a:avLst/>
          </a:prstGeom>
          <a:noFill/>
          <a:ln/>
        </p:spPr>
        <p:txBody>
          <a:bodyPr wrap="square" lIns="0" tIns="0" rIns="0" bIns="0" rtlCol="0" anchor="t"/>
          <a:lstStyle/>
          <a:p>
            <a:pPr algn="ctr" indent="0" marL="0">
              <a:buNone/>
            </a:pPr>
            <a:r>
              <a:rPr lang="en-US" sz="1200" b="1" dirty="0">
                <a:solidFill>
                  <a:schemeClr val="accent6"/>
                </a:solidFill>
              </a:rPr>
              <a:t>Overdue</a:t>
            </a:r>
            <a:endParaRPr lang="en-US" sz="1200" dirty="0"/>
          </a:p>
        </p:txBody>
      </p:sp>
      <p:sp>
        <p:nvSpPr>
          <p:cNvPr id="17" name="text-226"/>
          <p:cNvSpPr txBox="1"/>
          <p:nvPr/>
        </p:nvSpPr>
        <p:spPr>
          <a:xfrm>
            <a:off x="777240" y="3840480"/>
            <a:ext cx="987552" cy="640080"/>
          </a:xfrm>
          <a:prstGeom prst="rect">
            <a:avLst/>
          </a:prstGeom>
          <a:noFill/>
          <a:ln/>
        </p:spPr>
        <p:txBody>
          <a:bodyPr wrap="square" lIns="0" tIns="0" rIns="0" bIns="0" rtlCol="0" anchor="t"/>
          <a:lstStyle/>
          <a:p>
            <a:pPr algn="ctr" indent="0" marL="0">
              <a:buNone/>
            </a:pPr>
            <a:r>
              <a:rPr lang="en-US" sz="3200" b="1" dirty="0">
                <a:solidFill>
                  <a:schemeClr val="tx2"/>
                </a:solidFill>
                <a:latin typeface="Cambria" pitchFamily="34" charset="0"/>
                <a:ea typeface="Cambria" pitchFamily="34" charset="-122"/>
                <a:cs typeface="Cambria" pitchFamily="34" charset="-120"/>
              </a:rPr>
              <a:t>5</a:t>
            </a:r>
            <a:endParaRPr lang="en-US" sz="3200" dirty="0"/>
          </a:p>
        </p:txBody>
      </p:sp>
      <p:sp>
        <p:nvSpPr>
          <p:cNvPr id="18" name="urgency-227"/>
          <p:cNvSpPr/>
          <p:nvPr/>
        </p:nvSpPr>
        <p:spPr>
          <a:xfrm>
            <a:off x="1856232" y="3337560"/>
            <a:ext cx="987552" cy="1325880"/>
          </a:xfrm>
          <a:prstGeom prst="roundRect">
            <a:avLst>
              <a:gd name="adj" fmla="val 9259"/>
            </a:avLst>
          </a:prstGeom>
          <a:solidFill>
            <a:schemeClr val="bg1"/>
          </a:solidFill>
          <a:ln/>
          <a:effectLst>
            <a:outerShdw sx="100000" sy="100000" kx="0" ky="0" algn="bl" rotWithShape="0" blurRad="101600" dist="25400" dir="5400000">
              <a:srgbClr val="000000">
                <a:alpha val="14000"/>
              </a:srgbClr>
            </a:outerShdw>
          </a:effectLst>
        </p:spPr>
      </p:sp>
      <p:sp>
        <p:nvSpPr>
          <p:cNvPr id="19" name="text-228"/>
          <p:cNvSpPr txBox="1"/>
          <p:nvPr/>
        </p:nvSpPr>
        <p:spPr>
          <a:xfrm>
            <a:off x="1856232" y="3474720"/>
            <a:ext cx="987552" cy="274320"/>
          </a:xfrm>
          <a:prstGeom prst="rect">
            <a:avLst/>
          </a:prstGeom>
          <a:noFill/>
          <a:ln/>
        </p:spPr>
        <p:txBody>
          <a:bodyPr wrap="square" lIns="0" tIns="0" rIns="0" bIns="0" rtlCol="0" anchor="t"/>
          <a:lstStyle/>
          <a:p>
            <a:pPr algn="ctr" indent="0" marL="0">
              <a:buNone/>
            </a:pPr>
            <a:r>
              <a:rPr lang="en-US" sz="1200" b="1" dirty="0">
                <a:solidFill>
                  <a:schemeClr val="accent6"/>
                </a:solidFill>
              </a:rPr>
              <a:t>≤ 1 day</a:t>
            </a:r>
            <a:endParaRPr lang="en-US" sz="1200" dirty="0"/>
          </a:p>
        </p:txBody>
      </p:sp>
      <p:sp>
        <p:nvSpPr>
          <p:cNvPr id="20" name="text-229"/>
          <p:cNvSpPr txBox="1"/>
          <p:nvPr/>
        </p:nvSpPr>
        <p:spPr>
          <a:xfrm>
            <a:off x="1856232" y="3840480"/>
            <a:ext cx="987552" cy="640080"/>
          </a:xfrm>
          <a:prstGeom prst="rect">
            <a:avLst/>
          </a:prstGeom>
          <a:noFill/>
          <a:ln/>
        </p:spPr>
        <p:txBody>
          <a:bodyPr wrap="square" lIns="0" tIns="0" rIns="0" bIns="0" rtlCol="0" anchor="t"/>
          <a:lstStyle/>
          <a:p>
            <a:pPr algn="ctr" indent="0" marL="0">
              <a:buNone/>
            </a:pPr>
            <a:r>
              <a:rPr lang="en-US" sz="3200" b="1" dirty="0">
                <a:solidFill>
                  <a:schemeClr val="tx2"/>
                </a:solidFill>
                <a:latin typeface="Cambria" pitchFamily="34" charset="0"/>
                <a:ea typeface="Cambria" pitchFamily="34" charset="-122"/>
                <a:cs typeface="Cambria" pitchFamily="34" charset="-120"/>
              </a:rPr>
              <a:t>4</a:t>
            </a:r>
            <a:endParaRPr lang="en-US" sz="3200" dirty="0"/>
          </a:p>
        </p:txBody>
      </p:sp>
      <p:sp>
        <p:nvSpPr>
          <p:cNvPr id="21" name="urgency-230"/>
          <p:cNvSpPr/>
          <p:nvPr/>
        </p:nvSpPr>
        <p:spPr>
          <a:xfrm>
            <a:off x="2935224" y="3337560"/>
            <a:ext cx="987552" cy="1325880"/>
          </a:xfrm>
          <a:prstGeom prst="roundRect">
            <a:avLst>
              <a:gd name="adj" fmla="val 9259"/>
            </a:avLst>
          </a:prstGeom>
          <a:solidFill>
            <a:schemeClr val="bg1"/>
          </a:solidFill>
          <a:ln/>
          <a:effectLst>
            <a:outerShdw sx="100000" sy="100000" kx="0" ky="0" algn="bl" rotWithShape="0" blurRad="101600" dist="25400" dir="5400000">
              <a:srgbClr val="000000">
                <a:alpha val="14000"/>
              </a:srgbClr>
            </a:outerShdw>
          </a:effectLst>
        </p:spPr>
      </p:sp>
      <p:sp>
        <p:nvSpPr>
          <p:cNvPr id="22" name="text-231"/>
          <p:cNvSpPr txBox="1"/>
          <p:nvPr/>
        </p:nvSpPr>
        <p:spPr>
          <a:xfrm>
            <a:off x="2935224" y="3474720"/>
            <a:ext cx="987552" cy="274320"/>
          </a:xfrm>
          <a:prstGeom prst="rect">
            <a:avLst/>
          </a:prstGeom>
          <a:noFill/>
          <a:ln/>
        </p:spPr>
        <p:txBody>
          <a:bodyPr wrap="square" lIns="0" tIns="0" rIns="0" bIns="0" rtlCol="0" anchor="t"/>
          <a:lstStyle/>
          <a:p>
            <a:pPr algn="ctr" indent="0" marL="0">
              <a:buNone/>
            </a:pPr>
            <a:r>
              <a:rPr lang="en-US" sz="1200" b="1" dirty="0">
                <a:solidFill>
                  <a:schemeClr val="accent6"/>
                </a:solidFill>
              </a:rPr>
              <a:t>≤ 3 days</a:t>
            </a:r>
            <a:endParaRPr lang="en-US" sz="1200" dirty="0"/>
          </a:p>
        </p:txBody>
      </p:sp>
      <p:sp>
        <p:nvSpPr>
          <p:cNvPr id="23" name="text-232"/>
          <p:cNvSpPr txBox="1"/>
          <p:nvPr/>
        </p:nvSpPr>
        <p:spPr>
          <a:xfrm>
            <a:off x="2935224" y="3840480"/>
            <a:ext cx="987552" cy="640080"/>
          </a:xfrm>
          <a:prstGeom prst="rect">
            <a:avLst/>
          </a:prstGeom>
          <a:noFill/>
          <a:ln/>
        </p:spPr>
        <p:txBody>
          <a:bodyPr wrap="square" lIns="0" tIns="0" rIns="0" bIns="0" rtlCol="0" anchor="t"/>
          <a:lstStyle/>
          <a:p>
            <a:pPr algn="ctr" indent="0" marL="0">
              <a:buNone/>
            </a:pPr>
            <a:r>
              <a:rPr lang="en-US" sz="3200" b="1" dirty="0">
                <a:solidFill>
                  <a:schemeClr val="tx2"/>
                </a:solidFill>
                <a:latin typeface="Cambria" pitchFamily="34" charset="0"/>
                <a:ea typeface="Cambria" pitchFamily="34" charset="-122"/>
                <a:cs typeface="Cambria" pitchFamily="34" charset="-120"/>
              </a:rPr>
              <a:t>3</a:t>
            </a:r>
            <a:endParaRPr lang="en-US" sz="3200" dirty="0"/>
          </a:p>
        </p:txBody>
      </p:sp>
      <p:sp>
        <p:nvSpPr>
          <p:cNvPr id="24" name="urgency-233"/>
          <p:cNvSpPr/>
          <p:nvPr/>
        </p:nvSpPr>
        <p:spPr>
          <a:xfrm>
            <a:off x="4014216" y="3337560"/>
            <a:ext cx="987552" cy="1325880"/>
          </a:xfrm>
          <a:prstGeom prst="roundRect">
            <a:avLst>
              <a:gd name="adj" fmla="val 9259"/>
            </a:avLst>
          </a:prstGeom>
          <a:solidFill>
            <a:schemeClr val="bg1"/>
          </a:solidFill>
          <a:ln/>
          <a:effectLst>
            <a:outerShdw sx="100000" sy="100000" kx="0" ky="0" algn="bl" rotWithShape="0" blurRad="101600" dist="25400" dir="5400000">
              <a:srgbClr val="000000">
                <a:alpha val="14000"/>
              </a:srgbClr>
            </a:outerShdw>
          </a:effectLst>
        </p:spPr>
      </p:sp>
      <p:sp>
        <p:nvSpPr>
          <p:cNvPr id="25" name="text-234"/>
          <p:cNvSpPr txBox="1"/>
          <p:nvPr/>
        </p:nvSpPr>
        <p:spPr>
          <a:xfrm>
            <a:off x="4014216" y="3474720"/>
            <a:ext cx="987552" cy="274320"/>
          </a:xfrm>
          <a:prstGeom prst="rect">
            <a:avLst/>
          </a:prstGeom>
          <a:noFill/>
          <a:ln/>
        </p:spPr>
        <p:txBody>
          <a:bodyPr wrap="square" lIns="0" tIns="0" rIns="0" bIns="0" rtlCol="0" anchor="t"/>
          <a:lstStyle/>
          <a:p>
            <a:pPr algn="ctr" indent="0" marL="0">
              <a:buNone/>
            </a:pPr>
            <a:r>
              <a:rPr lang="en-US" sz="1200" b="1" dirty="0">
                <a:solidFill>
                  <a:schemeClr val="accent6"/>
                </a:solidFill>
              </a:rPr>
              <a:t>≤ 7 days</a:t>
            </a:r>
            <a:endParaRPr lang="en-US" sz="1200" dirty="0"/>
          </a:p>
        </p:txBody>
      </p:sp>
      <p:sp>
        <p:nvSpPr>
          <p:cNvPr id="26" name="text-235"/>
          <p:cNvSpPr txBox="1"/>
          <p:nvPr/>
        </p:nvSpPr>
        <p:spPr>
          <a:xfrm>
            <a:off x="4014216" y="3840480"/>
            <a:ext cx="987552" cy="640080"/>
          </a:xfrm>
          <a:prstGeom prst="rect">
            <a:avLst/>
          </a:prstGeom>
          <a:noFill/>
          <a:ln/>
        </p:spPr>
        <p:txBody>
          <a:bodyPr wrap="square" lIns="0" tIns="0" rIns="0" bIns="0" rtlCol="0" anchor="t"/>
          <a:lstStyle/>
          <a:p>
            <a:pPr algn="ctr" indent="0" marL="0">
              <a:buNone/>
            </a:pPr>
            <a:r>
              <a:rPr lang="en-US" sz="3200" b="1" dirty="0">
                <a:solidFill>
                  <a:schemeClr val="tx2"/>
                </a:solidFill>
                <a:latin typeface="Cambria" pitchFamily="34" charset="0"/>
                <a:ea typeface="Cambria" pitchFamily="34" charset="-122"/>
                <a:cs typeface="Cambria" pitchFamily="34" charset="-120"/>
              </a:rPr>
              <a:t>2</a:t>
            </a:r>
            <a:endParaRPr lang="en-US" sz="3200" dirty="0"/>
          </a:p>
        </p:txBody>
      </p:sp>
      <p:sp>
        <p:nvSpPr>
          <p:cNvPr id="27" name="urgency-236"/>
          <p:cNvSpPr/>
          <p:nvPr/>
        </p:nvSpPr>
        <p:spPr>
          <a:xfrm>
            <a:off x="5093208" y="3337560"/>
            <a:ext cx="987552" cy="1325880"/>
          </a:xfrm>
          <a:prstGeom prst="roundRect">
            <a:avLst>
              <a:gd name="adj" fmla="val 9259"/>
            </a:avLst>
          </a:prstGeom>
          <a:solidFill>
            <a:schemeClr val="bg1"/>
          </a:solidFill>
          <a:ln/>
          <a:effectLst>
            <a:outerShdw sx="100000" sy="100000" kx="0" ky="0" algn="bl" rotWithShape="0" blurRad="101600" dist="25400" dir="5400000">
              <a:srgbClr val="000000">
                <a:alpha val="14000"/>
              </a:srgbClr>
            </a:outerShdw>
          </a:effectLst>
        </p:spPr>
      </p:sp>
      <p:sp>
        <p:nvSpPr>
          <p:cNvPr id="28" name="text-237"/>
          <p:cNvSpPr txBox="1"/>
          <p:nvPr/>
        </p:nvSpPr>
        <p:spPr>
          <a:xfrm>
            <a:off x="5093208" y="3474720"/>
            <a:ext cx="987552" cy="274320"/>
          </a:xfrm>
          <a:prstGeom prst="rect">
            <a:avLst/>
          </a:prstGeom>
          <a:noFill/>
          <a:ln/>
        </p:spPr>
        <p:txBody>
          <a:bodyPr wrap="square" lIns="0" tIns="0" rIns="0" bIns="0" rtlCol="0" anchor="t"/>
          <a:lstStyle/>
          <a:p>
            <a:pPr algn="ctr" indent="0" marL="0">
              <a:buNone/>
            </a:pPr>
            <a:r>
              <a:rPr lang="en-US" sz="1200" b="1" dirty="0">
                <a:solidFill>
                  <a:schemeClr val="accent6"/>
                </a:solidFill>
              </a:rPr>
              <a:t>Later</a:t>
            </a:r>
            <a:endParaRPr lang="en-US" sz="1200" dirty="0"/>
          </a:p>
        </p:txBody>
      </p:sp>
      <p:sp>
        <p:nvSpPr>
          <p:cNvPr id="29" name="text-238"/>
          <p:cNvSpPr txBox="1"/>
          <p:nvPr/>
        </p:nvSpPr>
        <p:spPr>
          <a:xfrm>
            <a:off x="5093208" y="3840480"/>
            <a:ext cx="987552" cy="640080"/>
          </a:xfrm>
          <a:prstGeom prst="rect">
            <a:avLst/>
          </a:prstGeom>
          <a:noFill/>
          <a:ln/>
        </p:spPr>
        <p:txBody>
          <a:bodyPr wrap="square" lIns="0" tIns="0" rIns="0" bIns="0" rtlCol="0" anchor="t"/>
          <a:lstStyle/>
          <a:p>
            <a:pPr algn="ctr" indent="0" marL="0">
              <a:buNone/>
            </a:pPr>
            <a:r>
              <a:rPr lang="en-US" sz="3200" b="1" dirty="0">
                <a:solidFill>
                  <a:schemeClr val="tx2"/>
                </a:solidFill>
                <a:latin typeface="Cambria" pitchFamily="34" charset="0"/>
                <a:ea typeface="Cambria" pitchFamily="34" charset="-122"/>
                <a:cs typeface="Cambria" pitchFamily="34" charset="-120"/>
              </a:rPr>
              <a:t>1</a:t>
            </a:r>
            <a:endParaRPr lang="en-US" sz="3200" dirty="0"/>
          </a:p>
        </p:txBody>
      </p:sp>
      <p:sp>
        <p:nvSpPr>
          <p:cNvPr id="30" name="card-239"/>
          <p:cNvSpPr/>
          <p:nvPr/>
        </p:nvSpPr>
        <p:spPr>
          <a:xfrm>
            <a:off x="6583680" y="1371600"/>
            <a:ext cx="5056632" cy="3611880"/>
          </a:xfrm>
          <a:prstGeom prst="roundRect">
            <a:avLst>
              <a:gd name="adj" fmla="val 3038"/>
            </a:avLst>
          </a:prstGeom>
          <a:solidFill>
            <a:schemeClr val="tx1"/>
          </a:solidFill>
          <a:ln/>
        </p:spPr>
      </p:sp>
      <p:sp>
        <p:nvSpPr>
          <p:cNvPr id="31" name="text-240"/>
          <p:cNvSpPr txBox="1"/>
          <p:nvPr/>
        </p:nvSpPr>
        <p:spPr>
          <a:xfrm>
            <a:off x="6858000" y="1554480"/>
            <a:ext cx="4480560" cy="274320"/>
          </a:xfrm>
          <a:prstGeom prst="rect">
            <a:avLst/>
          </a:prstGeom>
          <a:noFill/>
          <a:ln/>
        </p:spPr>
        <p:txBody>
          <a:bodyPr wrap="square" lIns="0" tIns="0" rIns="0" bIns="0" rtlCol="0" anchor="t"/>
          <a:lstStyle/>
          <a:p>
            <a:pPr indent="0" marL="0">
              <a:buNone/>
            </a:pPr>
            <a:r>
              <a:rPr lang="en-US" sz="1200" b="1" dirty="0">
                <a:solidFill>
                  <a:schemeClr val="accent1"/>
                </a:solidFill>
              </a:rPr>
              <a:t>FORMULA</a:t>
            </a:r>
            <a:endParaRPr lang="en-US" sz="1200" dirty="0"/>
          </a:p>
        </p:txBody>
      </p:sp>
      <p:sp>
        <p:nvSpPr>
          <p:cNvPr id="32" name="text-241"/>
          <p:cNvSpPr txBox="1"/>
          <p:nvPr/>
        </p:nvSpPr>
        <p:spPr>
          <a:xfrm>
            <a:off x="6858000" y="1874520"/>
            <a:ext cx="4526280" cy="9144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score = (priority weight × 2)</a:t>
            </a:r>
            <a:endParaRPr lang="en-US" sz="2400" dirty="0"/>
          </a:p>
          <a:p>
            <a:pPr indent="0" marL="0">
              <a:buNone/>
            </a:pPr>
            <a:r>
              <a:rPr lang="en-US" sz="2400" b="1" dirty="0">
                <a:solidFill>
                  <a:schemeClr val="bg1"/>
                </a:solidFill>
                <a:latin typeface="Cambria" pitchFamily="34" charset="0"/>
                <a:ea typeface="Cambria" pitchFamily="34" charset="-122"/>
                <a:cs typeface="Cambria" pitchFamily="34" charset="-120"/>
              </a:rPr>
              <a:t>+ urgency</a:t>
            </a:r>
            <a:endParaRPr lang="en-US" sz="2400" dirty="0"/>
          </a:p>
        </p:txBody>
      </p:sp>
      <p:sp>
        <p:nvSpPr>
          <p:cNvPr id="33" name="text-242"/>
          <p:cNvSpPr txBox="1"/>
          <p:nvPr/>
        </p:nvSpPr>
        <p:spPr>
          <a:xfrm>
            <a:off x="6858000" y="3017520"/>
            <a:ext cx="4480560" cy="274320"/>
          </a:xfrm>
          <a:prstGeom prst="rect">
            <a:avLst/>
          </a:prstGeom>
          <a:noFill/>
          <a:ln/>
        </p:spPr>
        <p:txBody>
          <a:bodyPr wrap="square" lIns="0" tIns="0" rIns="0" bIns="0" rtlCol="0" anchor="t"/>
          <a:lstStyle/>
          <a:p>
            <a:pPr indent="0" marL="0">
              <a:buNone/>
            </a:pPr>
            <a:r>
              <a:rPr lang="en-US" sz="1200" b="1" dirty="0">
                <a:solidFill>
                  <a:schemeClr val="accent1"/>
                </a:solidFill>
              </a:rPr>
              <a:t>EXAMPLE</a:t>
            </a:r>
            <a:endParaRPr lang="en-US" sz="1200" dirty="0"/>
          </a:p>
        </p:txBody>
      </p:sp>
      <p:sp>
        <p:nvSpPr>
          <p:cNvPr id="34" name="text-243"/>
          <p:cNvSpPr txBox="1"/>
          <p:nvPr/>
        </p:nvSpPr>
        <p:spPr>
          <a:xfrm>
            <a:off x="6858000" y="3310128"/>
            <a:ext cx="4480560" cy="274320"/>
          </a:xfrm>
          <a:prstGeom prst="rect">
            <a:avLst/>
          </a:prstGeom>
          <a:noFill/>
          <a:ln/>
        </p:spPr>
        <p:txBody>
          <a:bodyPr wrap="square" lIns="0" tIns="0" rIns="0" bIns="0" rtlCol="0" anchor="t"/>
          <a:lstStyle/>
          <a:p>
            <a:pPr indent="0" marL="0">
              <a:buNone/>
            </a:pPr>
            <a:r>
              <a:rPr lang="en-US" sz="1400" dirty="0">
                <a:solidFill>
                  <a:schemeClr val="bg2"/>
                </a:solidFill>
              </a:rPr>
              <a:t>High priority, due tomorrow</a:t>
            </a:r>
            <a:endParaRPr lang="en-US" sz="1400" dirty="0"/>
          </a:p>
        </p:txBody>
      </p:sp>
      <p:sp>
        <p:nvSpPr>
          <p:cNvPr id="35" name="text-244"/>
          <p:cNvSpPr txBox="1"/>
          <p:nvPr/>
        </p:nvSpPr>
        <p:spPr>
          <a:xfrm>
            <a:off x="6858000" y="3584448"/>
            <a:ext cx="448056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(3 × 2) + 4 = 10  =  rank #1</a:t>
            </a:r>
            <a:endParaRPr lang="en-US" sz="2400" dirty="0"/>
          </a:p>
        </p:txBody>
      </p:sp>
      <p:sp>
        <p:nvSpPr>
          <p:cNvPr id="36" name="text-245"/>
          <p:cNvSpPr txBox="1"/>
          <p:nvPr/>
        </p:nvSpPr>
        <p:spPr>
          <a:xfrm>
            <a:off x="6858000" y="4114800"/>
            <a:ext cx="4480560" cy="274320"/>
          </a:xfrm>
          <a:prstGeom prst="rect">
            <a:avLst/>
          </a:prstGeom>
          <a:noFill/>
          <a:ln/>
        </p:spPr>
        <p:txBody>
          <a:bodyPr wrap="square" lIns="0" tIns="0" rIns="0" bIns="0" rtlCol="0" anchor="t"/>
          <a:lstStyle/>
          <a:p>
            <a:pPr indent="0" marL="0">
              <a:buNone/>
            </a:pPr>
            <a:r>
              <a:rPr lang="en-US" sz="1400" dirty="0">
                <a:solidFill>
                  <a:schemeClr val="bg2"/>
                </a:solidFill>
              </a:rPr>
              <a:t>Low priority, due in 10 days: (1 × 2) + 1 = 3</a:t>
            </a:r>
            <a:endParaRPr lang="en-US" sz="1400" dirty="0"/>
          </a:p>
        </p:txBody>
      </p:sp>
      <p:sp>
        <p:nvSpPr>
          <p:cNvPr id="37" name="text-246"/>
          <p:cNvSpPr txBox="1"/>
          <p:nvPr/>
        </p:nvSpPr>
        <p:spPr>
          <a:xfrm>
            <a:off x="6858000" y="4480560"/>
            <a:ext cx="4480560" cy="411480"/>
          </a:xfrm>
          <a:prstGeom prst="rect">
            <a:avLst/>
          </a:prstGeom>
          <a:noFill/>
          <a:ln/>
        </p:spPr>
        <p:txBody>
          <a:bodyPr wrap="square" lIns="0" tIns="0" rIns="0" bIns="0" rtlCol="0" anchor="t"/>
          <a:lstStyle/>
          <a:p>
            <a:pPr indent="0" marL="0">
              <a:buNone/>
            </a:pPr>
            <a:r>
              <a:rPr lang="en-US" sz="1400" dirty="0">
                <a:solidFill>
                  <a:schemeClr val="bg2"/>
                </a:solidFill>
              </a:rPr>
              <a:t>Pending tasks sorted high to low form the Smart Suggestions list.</a:t>
            </a:r>
            <a:endParaRPr lang="en-US" sz="1400" dirty="0"/>
          </a:p>
        </p:txBody>
      </p:sp>
      <p:sp>
        <p:nvSpPr>
          <p:cNvPr id="38" name="card-247"/>
          <p:cNvSpPr/>
          <p:nvPr/>
        </p:nvSpPr>
        <p:spPr>
          <a:xfrm>
            <a:off x="548640" y="5212080"/>
            <a:ext cx="3593592" cy="1051560"/>
          </a:xfrm>
          <a:prstGeom prst="roundRect">
            <a:avLst>
              <a:gd name="adj" fmla="val 10435"/>
            </a:avLst>
          </a:prstGeom>
          <a:solidFill>
            <a:schemeClr val="bg2"/>
          </a:solidFill>
          <a:ln/>
        </p:spPr>
      </p:sp>
      <p:sp>
        <p:nvSpPr>
          <p:cNvPr id="39" name="iconbg-248"/>
          <p:cNvSpPr/>
          <p:nvPr/>
        </p:nvSpPr>
        <p:spPr>
          <a:xfrm>
            <a:off x="731520" y="5468112"/>
            <a:ext cx="530352" cy="530352"/>
          </a:xfrm>
          <a:prstGeom prst="ellipse">
            <a:avLst/>
          </a:prstGeom>
          <a:solidFill>
            <a:schemeClr val="accent1"/>
          </a:solidFill>
          <a:ln/>
        </p:spPr>
      </p:sp>
      <p:pic>
        <p:nvPicPr>
          <p:cNvPr id="40" name="icon-249" descr="preencoded.png">    </p:cNvPr>
          <p:cNvPicPr>
            <a:picLocks noChangeAspect="1"/>
          </p:cNvPicPr>
          <p:nvPr/>
        </p:nvPicPr>
        <p:blipFill>
          <a:blip r:embed="rId1"/>
          <a:stretch>
            <a:fillRect/>
          </a:stretch>
        </p:blipFill>
        <p:spPr>
          <a:xfrm>
            <a:off x="874715" y="5611307"/>
            <a:ext cx="243962" cy="243962"/>
          </a:xfrm>
          <a:prstGeom prst="rect">
            <a:avLst/>
          </a:prstGeom>
        </p:spPr>
      </p:pic>
      <p:sp>
        <p:nvSpPr>
          <p:cNvPr id="41" name="text-250"/>
          <p:cNvSpPr txBox="1"/>
          <p:nvPr/>
        </p:nvSpPr>
        <p:spPr>
          <a:xfrm>
            <a:off x="1417320" y="5212080"/>
            <a:ext cx="2606040" cy="1051560"/>
          </a:xfrm>
          <a:prstGeom prst="rect">
            <a:avLst/>
          </a:prstGeom>
          <a:noFill/>
          <a:ln/>
        </p:spPr>
        <p:txBody>
          <a:bodyPr wrap="square" lIns="0" tIns="0" rIns="0" bIns="0" rtlCol="0" anchor="ctr"/>
          <a:lstStyle/>
          <a:p>
            <a:pPr indent="0" marL="0">
              <a:buNone/>
            </a:pPr>
            <a:r>
              <a:rPr lang="en-US" sz="1400" dirty="0">
                <a:solidFill>
                  <a:schemeClr val="tx1"/>
                </a:solidFill>
              </a:rPr>
              <a:t>Overdue if the due date has passed; Due Soon within 2 days</a:t>
            </a:r>
            <a:endParaRPr lang="en-US" sz="1400" dirty="0"/>
          </a:p>
        </p:txBody>
      </p:sp>
      <p:sp>
        <p:nvSpPr>
          <p:cNvPr id="42" name="card-251"/>
          <p:cNvSpPr/>
          <p:nvPr/>
        </p:nvSpPr>
        <p:spPr>
          <a:xfrm>
            <a:off x="4297680" y="5212080"/>
            <a:ext cx="3593592" cy="1051560"/>
          </a:xfrm>
          <a:prstGeom prst="roundRect">
            <a:avLst>
              <a:gd name="adj" fmla="val 10435"/>
            </a:avLst>
          </a:prstGeom>
          <a:solidFill>
            <a:schemeClr val="bg2"/>
          </a:solidFill>
          <a:ln/>
        </p:spPr>
      </p:sp>
      <p:sp>
        <p:nvSpPr>
          <p:cNvPr id="43" name="iconbg-252"/>
          <p:cNvSpPr/>
          <p:nvPr/>
        </p:nvSpPr>
        <p:spPr>
          <a:xfrm>
            <a:off x="4480560" y="5468112"/>
            <a:ext cx="530352" cy="530352"/>
          </a:xfrm>
          <a:prstGeom prst="ellipse">
            <a:avLst/>
          </a:prstGeom>
          <a:solidFill>
            <a:schemeClr val="accent1"/>
          </a:solidFill>
          <a:ln/>
        </p:spPr>
      </p:sp>
      <p:pic>
        <p:nvPicPr>
          <p:cNvPr id="44" name="icon-253" descr="preencoded.png">    </p:cNvPr>
          <p:cNvPicPr>
            <a:picLocks noChangeAspect="1"/>
          </p:cNvPicPr>
          <p:nvPr/>
        </p:nvPicPr>
        <p:blipFill>
          <a:blip r:embed="rId2"/>
          <a:stretch>
            <a:fillRect/>
          </a:stretch>
        </p:blipFill>
        <p:spPr>
          <a:xfrm>
            <a:off x="4623755" y="5611307"/>
            <a:ext cx="243962" cy="243962"/>
          </a:xfrm>
          <a:prstGeom prst="rect">
            <a:avLst/>
          </a:prstGeom>
        </p:spPr>
      </p:pic>
      <p:sp>
        <p:nvSpPr>
          <p:cNvPr id="45" name="text-254"/>
          <p:cNvSpPr txBox="1"/>
          <p:nvPr/>
        </p:nvSpPr>
        <p:spPr>
          <a:xfrm>
            <a:off x="5166360" y="5212080"/>
            <a:ext cx="2606040" cy="1051560"/>
          </a:xfrm>
          <a:prstGeom prst="rect">
            <a:avLst/>
          </a:prstGeom>
          <a:noFill/>
          <a:ln/>
        </p:spPr>
        <p:txBody>
          <a:bodyPr wrap="square" lIns="0" tIns="0" rIns="0" bIns="0" rtlCol="0" anchor="ctr"/>
          <a:lstStyle/>
          <a:p>
            <a:pPr indent="0" marL="0">
              <a:buNone/>
            </a:pPr>
            <a:r>
              <a:rPr lang="en-US" sz="1400" dirty="0">
                <a:solidFill>
                  <a:schemeClr val="tx1"/>
                </a:solidFill>
              </a:rPr>
              <a:t>Completion rate = completed ÷ total × 100</a:t>
            </a:r>
            <a:endParaRPr lang="en-US" sz="1400" dirty="0"/>
          </a:p>
        </p:txBody>
      </p:sp>
      <p:sp>
        <p:nvSpPr>
          <p:cNvPr id="46" name="card-255"/>
          <p:cNvSpPr/>
          <p:nvPr/>
        </p:nvSpPr>
        <p:spPr>
          <a:xfrm>
            <a:off x="8046720" y="5212080"/>
            <a:ext cx="3593592" cy="1051560"/>
          </a:xfrm>
          <a:prstGeom prst="roundRect">
            <a:avLst>
              <a:gd name="adj" fmla="val 10435"/>
            </a:avLst>
          </a:prstGeom>
          <a:solidFill>
            <a:schemeClr val="bg2"/>
          </a:solidFill>
          <a:ln/>
        </p:spPr>
      </p:sp>
      <p:sp>
        <p:nvSpPr>
          <p:cNvPr id="47" name="iconbg-256"/>
          <p:cNvSpPr/>
          <p:nvPr/>
        </p:nvSpPr>
        <p:spPr>
          <a:xfrm>
            <a:off x="8229600" y="5468112"/>
            <a:ext cx="530352" cy="530352"/>
          </a:xfrm>
          <a:prstGeom prst="ellipse">
            <a:avLst/>
          </a:prstGeom>
          <a:solidFill>
            <a:schemeClr val="accent1"/>
          </a:solidFill>
          <a:ln/>
        </p:spPr>
      </p:sp>
      <p:pic>
        <p:nvPicPr>
          <p:cNvPr id="48" name="icon-257" descr="preencoded.png">    </p:cNvPr>
          <p:cNvPicPr>
            <a:picLocks noChangeAspect="1"/>
          </p:cNvPicPr>
          <p:nvPr/>
        </p:nvPicPr>
        <p:blipFill>
          <a:blip r:embed="rId3"/>
          <a:stretch>
            <a:fillRect/>
          </a:stretch>
        </p:blipFill>
        <p:spPr>
          <a:xfrm>
            <a:off x="8372795" y="5611307"/>
            <a:ext cx="243962" cy="243962"/>
          </a:xfrm>
          <a:prstGeom prst="rect">
            <a:avLst/>
          </a:prstGeom>
        </p:spPr>
      </p:pic>
      <p:sp>
        <p:nvSpPr>
          <p:cNvPr id="49" name="text-258"/>
          <p:cNvSpPr txBox="1"/>
          <p:nvPr/>
        </p:nvSpPr>
        <p:spPr>
          <a:xfrm>
            <a:off x="8915400" y="5212080"/>
            <a:ext cx="2606040" cy="1051560"/>
          </a:xfrm>
          <a:prstGeom prst="rect">
            <a:avLst/>
          </a:prstGeom>
          <a:noFill/>
          <a:ln/>
        </p:spPr>
        <p:txBody>
          <a:bodyPr wrap="square" lIns="0" tIns="0" rIns="0" bIns="0" rtlCol="0" anchor="ctr"/>
          <a:lstStyle/>
          <a:p>
            <a:pPr indent="0" marL="0">
              <a:buNone/>
            </a:pPr>
            <a:r>
              <a:rPr lang="en-US" sz="1400" dirty="0">
                <a:solidFill>
                  <a:schemeClr val="tx1"/>
                </a:solidFill>
              </a:rPr>
              <a:t>Only pending tasks are scored and ranked</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Secure authentication in code</a:t>
            </a:r>
            <a:endParaRPr lang="en-US" sz="3400" dirty="0"/>
          </a:p>
        </p:txBody>
      </p:sp>
      <p:sp>
        <p:nvSpPr>
          <p:cNvPr id="3" name="code-box"/>
          <p:cNvSpPr/>
          <p:nvPr/>
        </p:nvSpPr>
        <p:spPr>
          <a:xfrm>
            <a:off x="548640" y="1371600"/>
            <a:ext cx="6949440" cy="4754880"/>
          </a:xfrm>
          <a:prstGeom prst="roundRect">
            <a:avLst>
              <a:gd name="adj" fmla="val 2308"/>
            </a:avLst>
          </a:prstGeom>
          <a:solidFill>
            <a:srgbClr val="1E1E1E"/>
          </a:solidFill>
          <a:ln/>
          <a:effectLst>
            <a:outerShdw sx="100000" sy="100000" kx="0" ky="0" algn="bl" rotWithShape="0" blurRad="101600" dist="25400" dir="5400000">
              <a:srgbClr val="000000">
                <a:alpha val="14000"/>
              </a:srgbClr>
            </a:outerShdw>
          </a:effectLst>
        </p:spPr>
      </p:sp>
      <p:sp>
        <p:nvSpPr>
          <p:cNvPr id="4" name="text-259"/>
          <p:cNvSpPr txBox="1"/>
          <p:nvPr/>
        </p:nvSpPr>
        <p:spPr>
          <a:xfrm>
            <a:off x="777240" y="1508760"/>
            <a:ext cx="6400800" cy="274320"/>
          </a:xfrm>
          <a:prstGeom prst="rect">
            <a:avLst/>
          </a:prstGeom>
          <a:noFill/>
          <a:ln/>
        </p:spPr>
        <p:txBody>
          <a:bodyPr wrap="square" lIns="0" tIns="0" rIns="0" bIns="0" rtlCol="0" anchor="t"/>
          <a:lstStyle/>
          <a:p>
            <a:pPr indent="0" marL="0">
              <a:buNone/>
            </a:pPr>
            <a:r>
              <a:rPr lang="en-US" sz="1200" b="1" dirty="0">
                <a:solidFill>
                  <a:srgbClr val="7DD3DC"/>
                </a:solidFill>
                <a:latin typeface="Courier New" pitchFamily="34" charset="0"/>
                <a:ea typeface="Courier New" pitchFamily="34" charset="-122"/>
                <a:cs typeface="Courier New" pitchFamily="34" charset="-120"/>
              </a:rPr>
              <a:t>routes/auth.js  (Express + bcrypt + JWT)</a:t>
            </a:r>
            <a:endParaRPr lang="en-US" sz="1200" dirty="0"/>
          </a:p>
        </p:txBody>
      </p:sp>
      <p:sp>
        <p:nvSpPr>
          <p:cNvPr id="5" name="code-text"/>
          <p:cNvSpPr txBox="1"/>
          <p:nvPr/>
        </p:nvSpPr>
        <p:spPr>
          <a:xfrm>
            <a:off x="777240" y="1874520"/>
            <a:ext cx="6583680" cy="4114800"/>
          </a:xfrm>
          <a:prstGeom prst="rect">
            <a:avLst/>
          </a:prstGeom>
          <a:noFill/>
          <a:ln/>
        </p:spPr>
        <p:txBody>
          <a:bodyPr wrap="square" lIns="0" tIns="0" rIns="0" bIns="0" rtlCol="0" anchor="t"/>
          <a:lstStyle/>
          <a:p>
            <a:pPr indent="0" marL="0">
              <a:buNone/>
            </a:pPr>
            <a:r>
              <a:rPr lang="en-US" sz="1200" dirty="0">
                <a:solidFill>
                  <a:srgbClr val="D4D4D4"/>
                </a:solidFill>
                <a:latin typeface="Courier New" pitchFamily="34" charset="0"/>
                <a:ea typeface="Courier New" pitchFamily="34" charset="-122"/>
                <a:cs typeface="Courier New" pitchFamily="34" charset="-120"/>
              </a:rPr>
              <a:t>router.post("/register", async (req, res) =&gt; {</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const { name, email, password } = req.body;</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if (await User.findOne({ email }))</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return res.status(400)</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.json({ message: "Email already registered" });</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const hash = await bcrypt.hash(password, 10);</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await User.create({ name, email, password: hash });</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res.status(201).json({ message: "Registered" });</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router.post("/login", async (req, res) =&gt; {</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const user = await User.findOne({ email: req.body.email });</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if (!user || !(await bcrypt.compare(</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req.body.password, user.password)))</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return res.status(400).json({ message: "Invalid credentials" });</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const token = jwt.sign({ id: user._id },</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process.env.JWT_SECRET, { expiresIn: "1d" });</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  res.json({ token, name: user.name });</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6" name="card-260"/>
          <p:cNvSpPr/>
          <p:nvPr/>
        </p:nvSpPr>
        <p:spPr>
          <a:xfrm>
            <a:off x="7772400" y="1371600"/>
            <a:ext cx="3867912" cy="1097280"/>
          </a:xfrm>
          <a:prstGeom prst="roundRect">
            <a:avLst>
              <a:gd name="adj" fmla="val 10000"/>
            </a:avLst>
          </a:prstGeom>
          <a:solidFill>
            <a:schemeClr val="bg2"/>
          </a:solidFill>
          <a:ln/>
        </p:spPr>
      </p:sp>
      <p:sp>
        <p:nvSpPr>
          <p:cNvPr id="7" name="iconbg-261"/>
          <p:cNvSpPr/>
          <p:nvPr/>
        </p:nvSpPr>
        <p:spPr>
          <a:xfrm>
            <a:off x="7955280" y="1645920"/>
            <a:ext cx="548640" cy="548640"/>
          </a:xfrm>
          <a:prstGeom prst="ellipse">
            <a:avLst/>
          </a:prstGeom>
          <a:solidFill>
            <a:schemeClr val="accent3"/>
          </a:solidFill>
          <a:ln/>
        </p:spPr>
      </p:sp>
      <p:pic>
        <p:nvPicPr>
          <p:cNvPr id="8" name="icon-262" descr="preencoded.png">    </p:cNvPr>
          <p:cNvPicPr>
            <a:picLocks noChangeAspect="1"/>
          </p:cNvPicPr>
          <p:nvPr/>
        </p:nvPicPr>
        <p:blipFill>
          <a:blip r:embed="rId1"/>
          <a:stretch>
            <a:fillRect/>
          </a:stretch>
        </p:blipFill>
        <p:spPr>
          <a:xfrm>
            <a:off x="8103413" y="1794053"/>
            <a:ext cx="252374" cy="252374"/>
          </a:xfrm>
          <a:prstGeom prst="rect">
            <a:avLst/>
          </a:prstGeom>
        </p:spPr>
      </p:pic>
      <p:sp>
        <p:nvSpPr>
          <p:cNvPr id="9" name="text-263"/>
          <p:cNvSpPr txBox="1"/>
          <p:nvPr/>
        </p:nvSpPr>
        <p:spPr>
          <a:xfrm>
            <a:off x="8686800" y="1508760"/>
            <a:ext cx="2834640" cy="292608"/>
          </a:xfrm>
          <a:prstGeom prst="rect">
            <a:avLst/>
          </a:prstGeom>
          <a:noFill/>
          <a:ln/>
        </p:spPr>
        <p:txBody>
          <a:bodyPr wrap="square" lIns="0" tIns="0" rIns="0" bIns="0" rtlCol="0" anchor="t"/>
          <a:lstStyle/>
          <a:p>
            <a:pPr indent="0" marL="0">
              <a:buNone/>
            </a:pPr>
            <a:r>
              <a:rPr lang="en-US" sz="1600" b="1" dirty="0">
                <a:solidFill>
                  <a:schemeClr val="tx1"/>
                </a:solidFill>
              </a:rPr>
              <a:t>bcrypt hashing</a:t>
            </a:r>
            <a:endParaRPr lang="en-US" sz="1600" dirty="0"/>
          </a:p>
        </p:txBody>
      </p:sp>
      <p:sp>
        <p:nvSpPr>
          <p:cNvPr id="10" name="text-264"/>
          <p:cNvSpPr txBox="1"/>
          <p:nvPr/>
        </p:nvSpPr>
        <p:spPr>
          <a:xfrm>
            <a:off x="8686800" y="1828800"/>
            <a:ext cx="2834640" cy="594360"/>
          </a:xfrm>
          <a:prstGeom prst="rect">
            <a:avLst/>
          </a:prstGeom>
          <a:noFill/>
          <a:ln/>
        </p:spPr>
        <p:txBody>
          <a:bodyPr wrap="square" lIns="0" tIns="0" rIns="0" bIns="0" rtlCol="0" anchor="t"/>
          <a:lstStyle/>
          <a:p>
            <a:pPr indent="0" marL="0">
              <a:buNone/>
            </a:pPr>
            <a:r>
              <a:rPr lang="en-US" sz="1400" dirty="0">
                <a:solidFill>
                  <a:schemeClr val="accent6"/>
                </a:solidFill>
              </a:rPr>
              <a:t>Passwords are never stored in plain text</a:t>
            </a:r>
            <a:endParaRPr lang="en-US" sz="1400" dirty="0"/>
          </a:p>
        </p:txBody>
      </p:sp>
      <p:sp>
        <p:nvSpPr>
          <p:cNvPr id="11" name="card-265"/>
          <p:cNvSpPr/>
          <p:nvPr/>
        </p:nvSpPr>
        <p:spPr>
          <a:xfrm>
            <a:off x="7772400" y="2606040"/>
            <a:ext cx="3867912" cy="1097280"/>
          </a:xfrm>
          <a:prstGeom prst="roundRect">
            <a:avLst>
              <a:gd name="adj" fmla="val 10000"/>
            </a:avLst>
          </a:prstGeom>
          <a:solidFill>
            <a:schemeClr val="bg2"/>
          </a:solidFill>
          <a:ln/>
        </p:spPr>
      </p:sp>
      <p:sp>
        <p:nvSpPr>
          <p:cNvPr id="12" name="iconbg-266"/>
          <p:cNvSpPr/>
          <p:nvPr/>
        </p:nvSpPr>
        <p:spPr>
          <a:xfrm>
            <a:off x="7955280" y="2880360"/>
            <a:ext cx="548640" cy="548640"/>
          </a:xfrm>
          <a:prstGeom prst="ellipse">
            <a:avLst/>
          </a:prstGeom>
          <a:solidFill>
            <a:schemeClr val="accent3"/>
          </a:solidFill>
          <a:ln/>
        </p:spPr>
      </p:sp>
      <p:pic>
        <p:nvPicPr>
          <p:cNvPr id="13" name="icon-267" descr="preencoded.png">    </p:cNvPr>
          <p:cNvPicPr>
            <a:picLocks noChangeAspect="1"/>
          </p:cNvPicPr>
          <p:nvPr/>
        </p:nvPicPr>
        <p:blipFill>
          <a:blip r:embed="rId2"/>
          <a:stretch>
            <a:fillRect/>
          </a:stretch>
        </p:blipFill>
        <p:spPr>
          <a:xfrm>
            <a:off x="8103413" y="3028493"/>
            <a:ext cx="252374" cy="252374"/>
          </a:xfrm>
          <a:prstGeom prst="rect">
            <a:avLst/>
          </a:prstGeom>
        </p:spPr>
      </p:pic>
      <p:sp>
        <p:nvSpPr>
          <p:cNvPr id="14" name="text-268"/>
          <p:cNvSpPr txBox="1"/>
          <p:nvPr/>
        </p:nvSpPr>
        <p:spPr>
          <a:xfrm>
            <a:off x="8686800" y="2743200"/>
            <a:ext cx="2834640" cy="292608"/>
          </a:xfrm>
          <a:prstGeom prst="rect">
            <a:avLst/>
          </a:prstGeom>
          <a:noFill/>
          <a:ln/>
        </p:spPr>
        <p:txBody>
          <a:bodyPr wrap="square" lIns="0" tIns="0" rIns="0" bIns="0" rtlCol="0" anchor="t"/>
          <a:lstStyle/>
          <a:p>
            <a:pPr indent="0" marL="0">
              <a:buNone/>
            </a:pPr>
            <a:r>
              <a:rPr lang="en-US" sz="1600" b="1" dirty="0">
                <a:solidFill>
                  <a:schemeClr val="tx1"/>
                </a:solidFill>
              </a:rPr>
              <a:t>JWT login</a:t>
            </a:r>
            <a:endParaRPr lang="en-US" sz="1600" dirty="0"/>
          </a:p>
        </p:txBody>
      </p:sp>
      <p:sp>
        <p:nvSpPr>
          <p:cNvPr id="15" name="text-269"/>
          <p:cNvSpPr txBox="1"/>
          <p:nvPr/>
        </p:nvSpPr>
        <p:spPr>
          <a:xfrm>
            <a:off x="8686800" y="3063240"/>
            <a:ext cx="2834640" cy="594360"/>
          </a:xfrm>
          <a:prstGeom prst="rect">
            <a:avLst/>
          </a:prstGeom>
          <a:noFill/>
          <a:ln/>
        </p:spPr>
        <p:txBody>
          <a:bodyPr wrap="square" lIns="0" tIns="0" rIns="0" bIns="0" rtlCol="0" anchor="t"/>
          <a:lstStyle/>
          <a:p>
            <a:pPr indent="0" marL="0">
              <a:buNone/>
            </a:pPr>
            <a:r>
              <a:rPr lang="en-US" sz="1400" dirty="0">
                <a:solidFill>
                  <a:schemeClr val="accent6"/>
                </a:solidFill>
              </a:rPr>
              <a:t>Token carries the user id and lasts 1 day</a:t>
            </a:r>
            <a:endParaRPr lang="en-US" sz="1400" dirty="0"/>
          </a:p>
        </p:txBody>
      </p:sp>
      <p:sp>
        <p:nvSpPr>
          <p:cNvPr id="16" name="card-270"/>
          <p:cNvSpPr/>
          <p:nvPr/>
        </p:nvSpPr>
        <p:spPr>
          <a:xfrm>
            <a:off x="7772400" y="3840480"/>
            <a:ext cx="3867912" cy="1097280"/>
          </a:xfrm>
          <a:prstGeom prst="roundRect">
            <a:avLst>
              <a:gd name="adj" fmla="val 10000"/>
            </a:avLst>
          </a:prstGeom>
          <a:solidFill>
            <a:schemeClr val="bg2"/>
          </a:solidFill>
          <a:ln/>
        </p:spPr>
      </p:sp>
      <p:sp>
        <p:nvSpPr>
          <p:cNvPr id="17" name="iconbg-271"/>
          <p:cNvSpPr/>
          <p:nvPr/>
        </p:nvSpPr>
        <p:spPr>
          <a:xfrm>
            <a:off x="7955280" y="4114800"/>
            <a:ext cx="548640" cy="548640"/>
          </a:xfrm>
          <a:prstGeom prst="ellipse">
            <a:avLst/>
          </a:prstGeom>
          <a:solidFill>
            <a:schemeClr val="accent3"/>
          </a:solidFill>
          <a:ln/>
        </p:spPr>
      </p:sp>
      <p:pic>
        <p:nvPicPr>
          <p:cNvPr id="18" name="icon-272" descr="preencoded.png">    </p:cNvPr>
          <p:cNvPicPr>
            <a:picLocks noChangeAspect="1"/>
          </p:cNvPicPr>
          <p:nvPr/>
        </p:nvPicPr>
        <p:blipFill>
          <a:blip r:embed="rId3"/>
          <a:stretch>
            <a:fillRect/>
          </a:stretch>
        </p:blipFill>
        <p:spPr>
          <a:xfrm>
            <a:off x="8103413" y="4262933"/>
            <a:ext cx="252374" cy="252374"/>
          </a:xfrm>
          <a:prstGeom prst="rect">
            <a:avLst/>
          </a:prstGeom>
        </p:spPr>
      </p:pic>
      <p:sp>
        <p:nvSpPr>
          <p:cNvPr id="19" name="text-273"/>
          <p:cNvSpPr txBox="1"/>
          <p:nvPr/>
        </p:nvSpPr>
        <p:spPr>
          <a:xfrm>
            <a:off x="8686800" y="3977640"/>
            <a:ext cx="2834640" cy="292608"/>
          </a:xfrm>
          <a:prstGeom prst="rect">
            <a:avLst/>
          </a:prstGeom>
          <a:noFill/>
          <a:ln/>
        </p:spPr>
        <p:txBody>
          <a:bodyPr wrap="square" lIns="0" tIns="0" rIns="0" bIns="0" rtlCol="0" anchor="t"/>
          <a:lstStyle/>
          <a:p>
            <a:pPr indent="0" marL="0">
              <a:buNone/>
            </a:pPr>
            <a:r>
              <a:rPr lang="en-US" sz="1600" b="1" dirty="0">
                <a:solidFill>
                  <a:schemeClr val="tx1"/>
                </a:solidFill>
              </a:rPr>
              <a:t>Auth middleware</a:t>
            </a:r>
            <a:endParaRPr lang="en-US" sz="1600" dirty="0"/>
          </a:p>
        </p:txBody>
      </p:sp>
      <p:sp>
        <p:nvSpPr>
          <p:cNvPr id="20" name="text-274"/>
          <p:cNvSpPr txBox="1"/>
          <p:nvPr/>
        </p:nvSpPr>
        <p:spPr>
          <a:xfrm>
            <a:off x="8686800" y="4297680"/>
            <a:ext cx="2834640" cy="594360"/>
          </a:xfrm>
          <a:prstGeom prst="rect">
            <a:avLst/>
          </a:prstGeom>
          <a:noFill/>
          <a:ln/>
        </p:spPr>
        <p:txBody>
          <a:bodyPr wrap="square" lIns="0" tIns="0" rIns="0" bIns="0" rtlCol="0" anchor="t"/>
          <a:lstStyle/>
          <a:p>
            <a:pPr indent="0" marL="0">
              <a:buNone/>
            </a:pPr>
            <a:r>
              <a:rPr lang="en-US" sz="1400" dirty="0">
                <a:solidFill>
                  <a:schemeClr val="accent6"/>
                </a:solidFill>
              </a:rPr>
              <a:t>Every task route verifies the token first</a:t>
            </a:r>
            <a:endParaRPr lang="en-US" sz="1400" dirty="0"/>
          </a:p>
        </p:txBody>
      </p:sp>
      <p:sp>
        <p:nvSpPr>
          <p:cNvPr id="21" name="card-275"/>
          <p:cNvSpPr/>
          <p:nvPr/>
        </p:nvSpPr>
        <p:spPr>
          <a:xfrm>
            <a:off x="7772400" y="5074920"/>
            <a:ext cx="3867912" cy="1097280"/>
          </a:xfrm>
          <a:prstGeom prst="roundRect">
            <a:avLst>
              <a:gd name="adj" fmla="val 10000"/>
            </a:avLst>
          </a:prstGeom>
          <a:solidFill>
            <a:schemeClr val="bg2"/>
          </a:solidFill>
          <a:ln/>
        </p:spPr>
      </p:sp>
      <p:sp>
        <p:nvSpPr>
          <p:cNvPr id="22" name="iconbg-276"/>
          <p:cNvSpPr/>
          <p:nvPr/>
        </p:nvSpPr>
        <p:spPr>
          <a:xfrm>
            <a:off x="7955280" y="5349240"/>
            <a:ext cx="548640" cy="548640"/>
          </a:xfrm>
          <a:prstGeom prst="ellipse">
            <a:avLst/>
          </a:prstGeom>
          <a:solidFill>
            <a:schemeClr val="accent3"/>
          </a:solidFill>
          <a:ln/>
        </p:spPr>
      </p:sp>
      <p:pic>
        <p:nvPicPr>
          <p:cNvPr id="23" name="icon-277" descr="preencoded.png">    </p:cNvPr>
          <p:cNvPicPr>
            <a:picLocks noChangeAspect="1"/>
          </p:cNvPicPr>
          <p:nvPr/>
        </p:nvPicPr>
        <p:blipFill>
          <a:blip r:embed="rId4"/>
          <a:stretch>
            <a:fillRect/>
          </a:stretch>
        </p:blipFill>
        <p:spPr>
          <a:xfrm>
            <a:off x="8103413" y="5497373"/>
            <a:ext cx="252374" cy="252374"/>
          </a:xfrm>
          <a:prstGeom prst="rect">
            <a:avLst/>
          </a:prstGeom>
        </p:spPr>
      </p:pic>
      <p:sp>
        <p:nvSpPr>
          <p:cNvPr id="24" name="text-278"/>
          <p:cNvSpPr txBox="1"/>
          <p:nvPr/>
        </p:nvSpPr>
        <p:spPr>
          <a:xfrm>
            <a:off x="8686800" y="5212080"/>
            <a:ext cx="2834640" cy="292608"/>
          </a:xfrm>
          <a:prstGeom prst="rect">
            <a:avLst/>
          </a:prstGeom>
          <a:noFill/>
          <a:ln/>
        </p:spPr>
        <p:txBody>
          <a:bodyPr wrap="square" lIns="0" tIns="0" rIns="0" bIns="0" rtlCol="0" anchor="t"/>
          <a:lstStyle/>
          <a:p>
            <a:pPr indent="0" marL="0">
              <a:buNone/>
            </a:pPr>
            <a:r>
              <a:rPr lang="en-US" sz="1600" b="1" dirty="0">
                <a:solidFill>
                  <a:schemeClr val="tx1"/>
                </a:solidFill>
              </a:rPr>
              <a:t>User isolation</a:t>
            </a:r>
            <a:endParaRPr lang="en-US" sz="1600" dirty="0"/>
          </a:p>
        </p:txBody>
      </p:sp>
      <p:sp>
        <p:nvSpPr>
          <p:cNvPr id="25" name="text-279"/>
          <p:cNvSpPr txBox="1"/>
          <p:nvPr/>
        </p:nvSpPr>
        <p:spPr>
          <a:xfrm>
            <a:off x="8686800" y="5532120"/>
            <a:ext cx="2834640" cy="594360"/>
          </a:xfrm>
          <a:prstGeom prst="rect">
            <a:avLst/>
          </a:prstGeom>
          <a:noFill/>
          <a:ln/>
        </p:spPr>
        <p:txBody>
          <a:bodyPr wrap="square" lIns="0" tIns="0" rIns="0" bIns="0" rtlCol="0" anchor="t"/>
          <a:lstStyle/>
          <a:p>
            <a:pPr indent="0" marL="0">
              <a:buNone/>
            </a:pPr>
            <a:r>
              <a:rPr lang="en-US" sz="1400" dirty="0">
                <a:solidFill>
                  <a:schemeClr val="accent6"/>
                </a:solidFill>
              </a:rPr>
              <a:t>Every query is filtered by the user id</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Login and dashboard</a:t>
            </a:r>
            <a:endParaRPr lang="en-US" sz="3400" dirty="0"/>
          </a:p>
        </p:txBody>
      </p:sp>
      <p:sp>
        <p:nvSpPr>
          <p:cNvPr id="3" name="card-280"/>
          <p:cNvSpPr/>
          <p:nvPr/>
        </p:nvSpPr>
        <p:spPr>
          <a:xfrm>
            <a:off x="548640" y="1371600"/>
            <a:ext cx="6858000" cy="4717498"/>
          </a:xfrm>
          <a:prstGeom prst="roundRect">
            <a:avLst>
              <a:gd name="adj" fmla="val 2326"/>
            </a:avLst>
          </a:prstGeom>
          <a:solidFill>
            <a:schemeClr val="bg1"/>
          </a:solidFill>
          <a:ln/>
          <a:effectLst>
            <a:outerShdw sx="100000" sy="100000" kx="0" ky="0" algn="bl" rotWithShape="0" blurRad="101600" dist="25400" dir="5400000">
              <a:srgbClr val="000000">
                <a:alpha val="14000"/>
              </a:srgbClr>
            </a:outerShdw>
          </a:effectLst>
        </p:spPr>
      </p:sp>
      <p:pic>
        <p:nvPicPr>
          <p:cNvPr id="4" name="pic-281" descr="/home/claude/img/p-018.png">    </p:cNvPr>
          <p:cNvPicPr>
            <a:picLocks noChangeAspect="1"/>
          </p:cNvPicPr>
          <p:nvPr/>
        </p:nvPicPr>
        <p:blipFill>
          <a:blip r:embed="rId1"/>
          <a:stretch>
            <a:fillRect/>
          </a:stretch>
        </p:blipFill>
        <p:spPr>
          <a:xfrm>
            <a:off x="640080" y="1463040"/>
            <a:ext cx="6675120" cy="4534618"/>
          </a:xfrm>
          <a:prstGeom prst="rect">
            <a:avLst/>
          </a:prstGeom>
        </p:spPr>
      </p:pic>
      <p:sp>
        <p:nvSpPr>
          <p:cNvPr id="5" name="card-282"/>
          <p:cNvSpPr/>
          <p:nvPr/>
        </p:nvSpPr>
        <p:spPr>
          <a:xfrm>
            <a:off x="8183880" y="1371600"/>
            <a:ext cx="2926080" cy="2207623"/>
          </a:xfrm>
          <a:prstGeom prst="roundRect">
            <a:avLst>
              <a:gd name="adj" fmla="val 4970"/>
            </a:avLst>
          </a:prstGeom>
          <a:solidFill>
            <a:schemeClr val="bg1"/>
          </a:solidFill>
          <a:ln/>
          <a:effectLst>
            <a:outerShdw sx="100000" sy="100000" kx="0" ky="0" algn="bl" rotWithShape="0" blurRad="101600" dist="25400" dir="5400000">
              <a:srgbClr val="000000">
                <a:alpha val="14000"/>
              </a:srgbClr>
            </a:outerShdw>
          </a:effectLst>
        </p:spPr>
      </p:sp>
      <p:pic>
        <p:nvPicPr>
          <p:cNvPr id="6" name="pic-283" descr="/home/claude/img/c_login.png">    </p:cNvPr>
          <p:cNvPicPr>
            <a:picLocks noChangeAspect="1"/>
          </p:cNvPicPr>
          <p:nvPr/>
        </p:nvPicPr>
        <p:blipFill>
          <a:blip r:embed="rId2"/>
          <a:stretch>
            <a:fillRect/>
          </a:stretch>
        </p:blipFill>
        <p:spPr>
          <a:xfrm>
            <a:off x="8275320" y="1463040"/>
            <a:ext cx="2743200" cy="2024743"/>
          </a:xfrm>
          <a:prstGeom prst="rect">
            <a:avLst/>
          </a:prstGeom>
        </p:spPr>
      </p:pic>
      <p:sp>
        <p:nvSpPr>
          <p:cNvPr id="7" name="card-284"/>
          <p:cNvSpPr/>
          <p:nvPr/>
        </p:nvSpPr>
        <p:spPr>
          <a:xfrm>
            <a:off x="7680960" y="3931920"/>
            <a:ext cx="1920240" cy="960120"/>
          </a:xfrm>
          <a:prstGeom prst="roundRect">
            <a:avLst>
              <a:gd name="adj" fmla="val 11429"/>
            </a:avLst>
          </a:prstGeom>
          <a:solidFill>
            <a:schemeClr val="bg2"/>
          </a:solidFill>
          <a:ln/>
        </p:spPr>
      </p:sp>
      <p:sp>
        <p:nvSpPr>
          <p:cNvPr id="8" name="text-285"/>
          <p:cNvSpPr txBox="1"/>
          <p:nvPr/>
        </p:nvSpPr>
        <p:spPr>
          <a:xfrm>
            <a:off x="7680960" y="4005072"/>
            <a:ext cx="1920240" cy="502920"/>
          </a:xfrm>
          <a:prstGeom prst="rect">
            <a:avLst/>
          </a:prstGeom>
          <a:noFill/>
          <a:ln/>
        </p:spPr>
        <p:txBody>
          <a:bodyPr wrap="square" lIns="0" tIns="0" rIns="0" bIns="0" rtlCol="0" anchor="t"/>
          <a:lstStyle/>
          <a:p>
            <a:pPr algn="ctr" indent="0" marL="0">
              <a:buNone/>
            </a:pPr>
            <a:r>
              <a:rPr lang="en-US" sz="2800" b="1" dirty="0">
                <a:solidFill>
                  <a:schemeClr val="tx2"/>
                </a:solidFill>
                <a:latin typeface="Cambria" pitchFamily="34" charset="0"/>
                <a:ea typeface="Cambria" pitchFamily="34" charset="-122"/>
                <a:cs typeface="Cambria" pitchFamily="34" charset="-120"/>
              </a:rPr>
              <a:t>12</a:t>
            </a:r>
            <a:endParaRPr lang="en-US" sz="2800" dirty="0"/>
          </a:p>
        </p:txBody>
      </p:sp>
      <p:sp>
        <p:nvSpPr>
          <p:cNvPr id="9" name="text-286"/>
          <p:cNvSpPr txBox="1"/>
          <p:nvPr/>
        </p:nvSpPr>
        <p:spPr>
          <a:xfrm>
            <a:off x="7680960" y="4526280"/>
            <a:ext cx="1920240" cy="274320"/>
          </a:xfrm>
          <a:prstGeom prst="rect">
            <a:avLst/>
          </a:prstGeom>
          <a:noFill/>
          <a:ln/>
        </p:spPr>
        <p:txBody>
          <a:bodyPr wrap="square" lIns="0" tIns="0" rIns="0" bIns="0" rtlCol="0" anchor="t"/>
          <a:lstStyle/>
          <a:p>
            <a:pPr algn="ctr" indent="0" marL="0">
              <a:buNone/>
            </a:pPr>
            <a:r>
              <a:rPr lang="en-US" sz="1400" dirty="0">
                <a:solidFill>
                  <a:schemeClr val="accent6"/>
                </a:solidFill>
              </a:rPr>
              <a:t>Total tasks</a:t>
            </a:r>
            <a:endParaRPr lang="en-US" sz="1400" dirty="0"/>
          </a:p>
        </p:txBody>
      </p:sp>
      <p:sp>
        <p:nvSpPr>
          <p:cNvPr id="10" name="card-287"/>
          <p:cNvSpPr/>
          <p:nvPr/>
        </p:nvSpPr>
        <p:spPr>
          <a:xfrm>
            <a:off x="9720072" y="3931920"/>
            <a:ext cx="1920240" cy="960120"/>
          </a:xfrm>
          <a:prstGeom prst="roundRect">
            <a:avLst>
              <a:gd name="adj" fmla="val 11429"/>
            </a:avLst>
          </a:prstGeom>
          <a:solidFill>
            <a:schemeClr val="bg2"/>
          </a:solidFill>
          <a:ln/>
        </p:spPr>
      </p:sp>
      <p:sp>
        <p:nvSpPr>
          <p:cNvPr id="11" name="text-288"/>
          <p:cNvSpPr txBox="1"/>
          <p:nvPr/>
        </p:nvSpPr>
        <p:spPr>
          <a:xfrm>
            <a:off x="9720072" y="4005072"/>
            <a:ext cx="1920240" cy="502920"/>
          </a:xfrm>
          <a:prstGeom prst="rect">
            <a:avLst/>
          </a:prstGeom>
          <a:noFill/>
          <a:ln/>
        </p:spPr>
        <p:txBody>
          <a:bodyPr wrap="square" lIns="0" tIns="0" rIns="0" bIns="0" rtlCol="0" anchor="t"/>
          <a:lstStyle/>
          <a:p>
            <a:pPr algn="ctr" indent="0" marL="0">
              <a:buNone/>
            </a:pPr>
            <a:r>
              <a:rPr lang="en-US" sz="2800" b="1" dirty="0">
                <a:solidFill>
                  <a:schemeClr val="tx2"/>
                </a:solidFill>
                <a:latin typeface="Cambria" pitchFamily="34" charset="0"/>
                <a:ea typeface="Cambria" pitchFamily="34" charset="-122"/>
                <a:cs typeface="Cambria" pitchFamily="34" charset="-120"/>
              </a:rPr>
              <a:t>3</a:t>
            </a:r>
            <a:endParaRPr lang="en-US" sz="2800" dirty="0"/>
          </a:p>
        </p:txBody>
      </p:sp>
      <p:sp>
        <p:nvSpPr>
          <p:cNvPr id="12" name="text-289"/>
          <p:cNvSpPr txBox="1"/>
          <p:nvPr/>
        </p:nvSpPr>
        <p:spPr>
          <a:xfrm>
            <a:off x="9720072" y="4526280"/>
            <a:ext cx="1920240" cy="274320"/>
          </a:xfrm>
          <a:prstGeom prst="rect">
            <a:avLst/>
          </a:prstGeom>
          <a:noFill/>
          <a:ln/>
        </p:spPr>
        <p:txBody>
          <a:bodyPr wrap="square" lIns="0" tIns="0" rIns="0" bIns="0" rtlCol="0" anchor="t"/>
          <a:lstStyle/>
          <a:p>
            <a:pPr algn="ctr" indent="0" marL="0">
              <a:buNone/>
            </a:pPr>
            <a:r>
              <a:rPr lang="en-US" sz="1400" dirty="0">
                <a:solidFill>
                  <a:schemeClr val="accent6"/>
                </a:solidFill>
              </a:rPr>
              <a:t>Completed</a:t>
            </a:r>
            <a:endParaRPr lang="en-US" sz="1400" dirty="0"/>
          </a:p>
        </p:txBody>
      </p:sp>
      <p:sp>
        <p:nvSpPr>
          <p:cNvPr id="13" name="card-290"/>
          <p:cNvSpPr/>
          <p:nvPr/>
        </p:nvSpPr>
        <p:spPr>
          <a:xfrm>
            <a:off x="7680960" y="5029200"/>
            <a:ext cx="1920240" cy="960120"/>
          </a:xfrm>
          <a:prstGeom prst="roundRect">
            <a:avLst>
              <a:gd name="adj" fmla="val 11429"/>
            </a:avLst>
          </a:prstGeom>
          <a:solidFill>
            <a:schemeClr val="bg2"/>
          </a:solidFill>
          <a:ln/>
        </p:spPr>
      </p:sp>
      <p:sp>
        <p:nvSpPr>
          <p:cNvPr id="14" name="text-291"/>
          <p:cNvSpPr txBox="1"/>
          <p:nvPr/>
        </p:nvSpPr>
        <p:spPr>
          <a:xfrm>
            <a:off x="7680960" y="5102352"/>
            <a:ext cx="1920240" cy="502920"/>
          </a:xfrm>
          <a:prstGeom prst="rect">
            <a:avLst/>
          </a:prstGeom>
          <a:noFill/>
          <a:ln/>
        </p:spPr>
        <p:txBody>
          <a:bodyPr wrap="square" lIns="0" tIns="0" rIns="0" bIns="0" rtlCol="0" anchor="t"/>
          <a:lstStyle/>
          <a:p>
            <a:pPr algn="ctr" indent="0" marL="0">
              <a:buNone/>
            </a:pPr>
            <a:r>
              <a:rPr lang="en-US" sz="2800" b="1" dirty="0">
                <a:solidFill>
                  <a:schemeClr val="accent4"/>
                </a:solidFill>
                <a:latin typeface="Cambria" pitchFamily="34" charset="0"/>
                <a:ea typeface="Cambria" pitchFamily="34" charset="-122"/>
                <a:cs typeface="Cambria" pitchFamily="34" charset="-120"/>
              </a:rPr>
              <a:t>1</a:t>
            </a:r>
            <a:endParaRPr lang="en-US" sz="2800" dirty="0"/>
          </a:p>
        </p:txBody>
      </p:sp>
      <p:sp>
        <p:nvSpPr>
          <p:cNvPr id="15" name="text-292"/>
          <p:cNvSpPr txBox="1"/>
          <p:nvPr/>
        </p:nvSpPr>
        <p:spPr>
          <a:xfrm>
            <a:off x="7680960" y="5623560"/>
            <a:ext cx="1920240" cy="274320"/>
          </a:xfrm>
          <a:prstGeom prst="rect">
            <a:avLst/>
          </a:prstGeom>
          <a:noFill/>
          <a:ln/>
        </p:spPr>
        <p:txBody>
          <a:bodyPr wrap="square" lIns="0" tIns="0" rIns="0" bIns="0" rtlCol="0" anchor="t"/>
          <a:lstStyle/>
          <a:p>
            <a:pPr algn="ctr" indent="0" marL="0">
              <a:buNone/>
            </a:pPr>
            <a:r>
              <a:rPr lang="en-US" sz="1400" dirty="0">
                <a:solidFill>
                  <a:schemeClr val="accent6"/>
                </a:solidFill>
              </a:rPr>
              <a:t>Overdue</a:t>
            </a:r>
            <a:endParaRPr lang="en-US" sz="1400" dirty="0"/>
          </a:p>
        </p:txBody>
      </p:sp>
      <p:sp>
        <p:nvSpPr>
          <p:cNvPr id="16" name="card-293"/>
          <p:cNvSpPr/>
          <p:nvPr/>
        </p:nvSpPr>
        <p:spPr>
          <a:xfrm>
            <a:off x="9720072" y="5029200"/>
            <a:ext cx="1920240" cy="960120"/>
          </a:xfrm>
          <a:prstGeom prst="roundRect">
            <a:avLst>
              <a:gd name="adj" fmla="val 11429"/>
            </a:avLst>
          </a:prstGeom>
          <a:solidFill>
            <a:schemeClr val="bg2"/>
          </a:solidFill>
          <a:ln/>
        </p:spPr>
      </p:sp>
      <p:sp>
        <p:nvSpPr>
          <p:cNvPr id="17" name="text-294"/>
          <p:cNvSpPr txBox="1"/>
          <p:nvPr/>
        </p:nvSpPr>
        <p:spPr>
          <a:xfrm>
            <a:off x="9720072" y="5102352"/>
            <a:ext cx="1920240" cy="502920"/>
          </a:xfrm>
          <a:prstGeom prst="rect">
            <a:avLst/>
          </a:prstGeom>
          <a:noFill/>
          <a:ln/>
        </p:spPr>
        <p:txBody>
          <a:bodyPr wrap="square" lIns="0" tIns="0" rIns="0" bIns="0" rtlCol="0" anchor="t"/>
          <a:lstStyle/>
          <a:p>
            <a:pPr algn="ctr" indent="0" marL="0">
              <a:buNone/>
            </a:pPr>
            <a:r>
              <a:rPr lang="en-US" sz="2800" b="1" dirty="0">
                <a:solidFill>
                  <a:schemeClr val="tx2"/>
                </a:solidFill>
                <a:latin typeface="Cambria" pitchFamily="34" charset="0"/>
                <a:ea typeface="Cambria" pitchFamily="34" charset="-122"/>
                <a:cs typeface="Cambria" pitchFamily="34" charset="-120"/>
              </a:rPr>
              <a:t>25%</a:t>
            </a:r>
            <a:endParaRPr lang="en-US" sz="2800" dirty="0"/>
          </a:p>
        </p:txBody>
      </p:sp>
      <p:sp>
        <p:nvSpPr>
          <p:cNvPr id="18" name="text-295"/>
          <p:cNvSpPr txBox="1"/>
          <p:nvPr/>
        </p:nvSpPr>
        <p:spPr>
          <a:xfrm>
            <a:off x="9720072" y="5623560"/>
            <a:ext cx="1920240" cy="274320"/>
          </a:xfrm>
          <a:prstGeom prst="rect">
            <a:avLst/>
          </a:prstGeom>
          <a:noFill/>
          <a:ln/>
        </p:spPr>
        <p:txBody>
          <a:bodyPr wrap="square" lIns="0" tIns="0" rIns="0" bIns="0" rtlCol="0" anchor="t"/>
          <a:lstStyle/>
          <a:p>
            <a:pPr algn="ctr" indent="0" marL="0">
              <a:buNone/>
            </a:pPr>
            <a:r>
              <a:rPr lang="en-US" sz="1400" dirty="0">
                <a:solidFill>
                  <a:schemeClr val="accent6"/>
                </a:solidFill>
              </a:rPr>
              <a:t>Completion rate</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Task list and task form</a:t>
            </a:r>
            <a:endParaRPr lang="en-US" sz="3400" dirty="0"/>
          </a:p>
        </p:txBody>
      </p:sp>
      <p:sp>
        <p:nvSpPr>
          <p:cNvPr id="3" name="card-296"/>
          <p:cNvSpPr/>
          <p:nvPr/>
        </p:nvSpPr>
        <p:spPr>
          <a:xfrm>
            <a:off x="548640" y="1371600"/>
            <a:ext cx="6949440" cy="4583727"/>
          </a:xfrm>
          <a:prstGeom prst="roundRect">
            <a:avLst>
              <a:gd name="adj" fmla="val 2394"/>
            </a:avLst>
          </a:prstGeom>
          <a:solidFill>
            <a:schemeClr val="bg1"/>
          </a:solidFill>
          <a:ln/>
          <a:effectLst>
            <a:outerShdw sx="100000" sy="100000" kx="0" ky="0" algn="bl" rotWithShape="0" blurRad="101600" dist="25400" dir="5400000">
              <a:srgbClr val="000000">
                <a:alpha val="14000"/>
              </a:srgbClr>
            </a:outerShdw>
          </a:effectLst>
        </p:spPr>
      </p:sp>
      <p:pic>
        <p:nvPicPr>
          <p:cNvPr id="4" name="pic-297" descr="/home/claude/img/c_tasklist.png">    </p:cNvPr>
          <p:cNvPicPr>
            <a:picLocks noChangeAspect="1"/>
          </p:cNvPicPr>
          <p:nvPr/>
        </p:nvPicPr>
        <p:blipFill>
          <a:blip r:embed="rId1"/>
          <a:stretch>
            <a:fillRect/>
          </a:stretch>
        </p:blipFill>
        <p:spPr>
          <a:xfrm>
            <a:off x="640080" y="1463040"/>
            <a:ext cx="6766560" cy="4400847"/>
          </a:xfrm>
          <a:prstGeom prst="rect">
            <a:avLst/>
          </a:prstGeom>
        </p:spPr>
      </p:pic>
      <p:sp>
        <p:nvSpPr>
          <p:cNvPr id="5" name="card-298"/>
          <p:cNvSpPr/>
          <p:nvPr/>
        </p:nvSpPr>
        <p:spPr>
          <a:xfrm>
            <a:off x="7772400" y="1371600"/>
            <a:ext cx="3867912" cy="2189784"/>
          </a:xfrm>
          <a:prstGeom prst="roundRect">
            <a:avLst>
              <a:gd name="adj" fmla="val 5011"/>
            </a:avLst>
          </a:prstGeom>
          <a:solidFill>
            <a:schemeClr val="bg1"/>
          </a:solidFill>
          <a:ln/>
          <a:effectLst>
            <a:outerShdw sx="100000" sy="100000" kx="0" ky="0" algn="bl" rotWithShape="0" blurRad="101600" dist="25400" dir="5400000">
              <a:srgbClr val="000000">
                <a:alpha val="14000"/>
              </a:srgbClr>
            </a:outerShdw>
          </a:effectLst>
        </p:spPr>
      </p:sp>
      <p:pic>
        <p:nvPicPr>
          <p:cNvPr id="6" name="pic-299" descr="/home/claude/img/c_add.png">    </p:cNvPr>
          <p:cNvPicPr>
            <a:picLocks noChangeAspect="1"/>
          </p:cNvPicPr>
          <p:nvPr/>
        </p:nvPicPr>
        <p:blipFill>
          <a:blip r:embed="rId2"/>
          <a:stretch>
            <a:fillRect/>
          </a:stretch>
        </p:blipFill>
        <p:spPr>
          <a:xfrm>
            <a:off x="7863840" y="1463040"/>
            <a:ext cx="3685032" cy="2006904"/>
          </a:xfrm>
          <a:prstGeom prst="rect">
            <a:avLst/>
          </a:prstGeom>
        </p:spPr>
      </p:pic>
      <p:sp>
        <p:nvSpPr>
          <p:cNvPr id="7" name="iconbg-300"/>
          <p:cNvSpPr/>
          <p:nvPr/>
        </p:nvSpPr>
        <p:spPr>
          <a:xfrm>
            <a:off x="7772400" y="4160520"/>
            <a:ext cx="457200" cy="457200"/>
          </a:xfrm>
          <a:prstGeom prst="ellipse">
            <a:avLst/>
          </a:prstGeom>
          <a:solidFill>
            <a:schemeClr val="accent5"/>
          </a:solidFill>
          <a:ln/>
        </p:spPr>
      </p:sp>
      <p:pic>
        <p:nvPicPr>
          <p:cNvPr id="8" name="icon-301" descr="preencoded.png">    </p:cNvPr>
          <p:cNvPicPr>
            <a:picLocks noChangeAspect="1"/>
          </p:cNvPicPr>
          <p:nvPr/>
        </p:nvPicPr>
        <p:blipFill>
          <a:blip r:embed="rId3"/>
          <a:stretch>
            <a:fillRect/>
          </a:stretch>
        </p:blipFill>
        <p:spPr>
          <a:xfrm>
            <a:off x="7895844" y="4283964"/>
            <a:ext cx="210312" cy="210312"/>
          </a:xfrm>
          <a:prstGeom prst="rect">
            <a:avLst/>
          </a:prstGeom>
        </p:spPr>
      </p:pic>
      <p:sp>
        <p:nvSpPr>
          <p:cNvPr id="9" name="text-302"/>
          <p:cNvSpPr txBox="1"/>
          <p:nvPr/>
        </p:nvSpPr>
        <p:spPr>
          <a:xfrm>
            <a:off x="8412480" y="4160520"/>
            <a:ext cx="3200400" cy="457200"/>
          </a:xfrm>
          <a:prstGeom prst="rect">
            <a:avLst/>
          </a:prstGeom>
          <a:noFill/>
          <a:ln/>
        </p:spPr>
        <p:txBody>
          <a:bodyPr wrap="square" lIns="0" tIns="0" rIns="0" bIns="0" rtlCol="0" anchor="ctr"/>
          <a:lstStyle/>
          <a:p>
            <a:pPr indent="0" marL="0">
              <a:buNone/>
            </a:pPr>
            <a:r>
              <a:rPr lang="en-US" sz="1400" b="1" dirty="0">
                <a:solidFill>
                  <a:schemeClr val="tx1"/>
                </a:solidFill>
              </a:rPr>
              <a:t>Filter by status or category</a:t>
            </a:r>
            <a:endParaRPr lang="en-US" sz="1400" dirty="0"/>
          </a:p>
        </p:txBody>
      </p:sp>
      <p:sp>
        <p:nvSpPr>
          <p:cNvPr id="10" name="iconbg-303"/>
          <p:cNvSpPr/>
          <p:nvPr/>
        </p:nvSpPr>
        <p:spPr>
          <a:xfrm>
            <a:off x="7772400" y="4846320"/>
            <a:ext cx="457200" cy="457200"/>
          </a:xfrm>
          <a:prstGeom prst="ellipse">
            <a:avLst/>
          </a:prstGeom>
          <a:solidFill>
            <a:schemeClr val="accent5"/>
          </a:solidFill>
          <a:ln/>
        </p:spPr>
      </p:sp>
      <p:pic>
        <p:nvPicPr>
          <p:cNvPr id="11" name="icon-304" descr="preencoded.png">    </p:cNvPr>
          <p:cNvPicPr>
            <a:picLocks noChangeAspect="1"/>
          </p:cNvPicPr>
          <p:nvPr/>
        </p:nvPicPr>
        <p:blipFill>
          <a:blip r:embed="rId4"/>
          <a:stretch>
            <a:fillRect/>
          </a:stretch>
        </p:blipFill>
        <p:spPr>
          <a:xfrm>
            <a:off x="7895844" y="4969764"/>
            <a:ext cx="210312" cy="210312"/>
          </a:xfrm>
          <a:prstGeom prst="rect">
            <a:avLst/>
          </a:prstGeom>
        </p:spPr>
      </p:pic>
      <p:sp>
        <p:nvSpPr>
          <p:cNvPr id="12" name="text-305"/>
          <p:cNvSpPr txBox="1"/>
          <p:nvPr/>
        </p:nvSpPr>
        <p:spPr>
          <a:xfrm>
            <a:off x="8412480" y="4846320"/>
            <a:ext cx="3200400" cy="457200"/>
          </a:xfrm>
          <a:prstGeom prst="rect">
            <a:avLst/>
          </a:prstGeom>
          <a:noFill/>
          <a:ln/>
        </p:spPr>
        <p:txBody>
          <a:bodyPr wrap="square" lIns="0" tIns="0" rIns="0" bIns="0" rtlCol="0" anchor="ctr"/>
          <a:lstStyle/>
          <a:p>
            <a:pPr indent="0" marL="0">
              <a:buNone/>
            </a:pPr>
            <a:r>
              <a:rPr lang="en-US" sz="1400" b="1" dirty="0">
                <a:solidFill>
                  <a:schemeClr val="tx1"/>
                </a:solidFill>
              </a:rPr>
              <a:t>Done and Delete actions on every task</a:t>
            </a:r>
            <a:endParaRPr lang="en-US" sz="1400" dirty="0"/>
          </a:p>
        </p:txBody>
      </p:sp>
      <p:sp>
        <p:nvSpPr>
          <p:cNvPr id="13" name="iconbg-306"/>
          <p:cNvSpPr/>
          <p:nvPr/>
        </p:nvSpPr>
        <p:spPr>
          <a:xfrm>
            <a:off x="7772400" y="5532120"/>
            <a:ext cx="457200" cy="457200"/>
          </a:xfrm>
          <a:prstGeom prst="ellipse">
            <a:avLst/>
          </a:prstGeom>
          <a:solidFill>
            <a:schemeClr val="accent5"/>
          </a:solidFill>
          <a:ln/>
        </p:spPr>
      </p:sp>
      <p:pic>
        <p:nvPicPr>
          <p:cNvPr id="14" name="icon-307" descr="preencoded.png">    </p:cNvPr>
          <p:cNvPicPr>
            <a:picLocks noChangeAspect="1"/>
          </p:cNvPicPr>
          <p:nvPr/>
        </p:nvPicPr>
        <p:blipFill>
          <a:blip r:embed="rId5"/>
          <a:stretch>
            <a:fillRect/>
          </a:stretch>
        </p:blipFill>
        <p:spPr>
          <a:xfrm>
            <a:off x="7895844" y="5655564"/>
            <a:ext cx="210312" cy="210312"/>
          </a:xfrm>
          <a:prstGeom prst="rect">
            <a:avLst/>
          </a:prstGeom>
        </p:spPr>
      </p:pic>
      <p:sp>
        <p:nvSpPr>
          <p:cNvPr id="15" name="text-308"/>
          <p:cNvSpPr txBox="1"/>
          <p:nvPr/>
        </p:nvSpPr>
        <p:spPr>
          <a:xfrm>
            <a:off x="8412480" y="5532120"/>
            <a:ext cx="3200400" cy="457200"/>
          </a:xfrm>
          <a:prstGeom prst="rect">
            <a:avLst/>
          </a:prstGeom>
          <a:noFill/>
          <a:ln/>
        </p:spPr>
        <p:txBody>
          <a:bodyPr wrap="square" lIns="0" tIns="0" rIns="0" bIns="0" rtlCol="0" anchor="ctr"/>
          <a:lstStyle/>
          <a:p>
            <a:pPr indent="0" marL="0">
              <a:buNone/>
            </a:pPr>
            <a:r>
              <a:rPr lang="en-US" sz="1400" b="1" dirty="0">
                <a:solidFill>
                  <a:schemeClr val="tx1"/>
                </a:solidFill>
              </a:rPr>
              <a:t>Smart score shown for each task</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Smart ranking, plan and reminders</a:t>
            </a:r>
            <a:endParaRPr lang="en-US" sz="3400" dirty="0"/>
          </a:p>
        </p:txBody>
      </p:sp>
      <p:sp>
        <p:nvSpPr>
          <p:cNvPr id="3" name="text-309"/>
          <p:cNvSpPr txBox="1"/>
          <p:nvPr/>
        </p:nvSpPr>
        <p:spPr>
          <a:xfrm>
            <a:off x="548640" y="1325880"/>
            <a:ext cx="5394960" cy="256032"/>
          </a:xfrm>
          <a:prstGeom prst="rect">
            <a:avLst/>
          </a:prstGeom>
          <a:noFill/>
          <a:ln/>
        </p:spPr>
        <p:txBody>
          <a:bodyPr wrap="square" lIns="0" tIns="0" rIns="0" bIns="0" rtlCol="0" anchor="t"/>
          <a:lstStyle/>
          <a:p>
            <a:pPr indent="0" marL="0">
              <a:buNone/>
            </a:pPr>
            <a:r>
              <a:rPr lang="en-US" sz="1200" b="1" dirty="0">
                <a:solidFill>
                  <a:schemeClr val="accent1"/>
                </a:solidFill>
              </a:rPr>
              <a:t>RANKED TASKS</a:t>
            </a:r>
            <a:endParaRPr lang="en-US" sz="1200" dirty="0"/>
          </a:p>
        </p:txBody>
      </p:sp>
      <p:pic>
        <p:nvPicPr>
          <p:cNvPr id="4" name="rank-shot" descr="/home/claude/img/c_rank.png">    </p:cNvPr>
          <p:cNvPicPr>
            <a:picLocks noChangeAspect="1"/>
          </p:cNvPicPr>
          <p:nvPr/>
        </p:nvPicPr>
        <p:blipFill>
          <a:blip r:embed="rId1"/>
          <a:stretch>
            <a:fillRect/>
          </a:stretch>
        </p:blipFill>
        <p:spPr>
          <a:xfrm>
            <a:off x="548640" y="1627632"/>
            <a:ext cx="5394960" cy="2240350"/>
          </a:xfrm>
          <a:prstGeom prst="rect">
            <a:avLst/>
          </a:prstGeom>
        </p:spPr>
      </p:pic>
      <p:sp>
        <p:nvSpPr>
          <p:cNvPr id="5" name="text-310"/>
          <p:cNvSpPr txBox="1"/>
          <p:nvPr/>
        </p:nvSpPr>
        <p:spPr>
          <a:xfrm>
            <a:off x="548640" y="4023360"/>
            <a:ext cx="5394960" cy="256032"/>
          </a:xfrm>
          <a:prstGeom prst="rect">
            <a:avLst/>
          </a:prstGeom>
          <a:noFill/>
          <a:ln/>
        </p:spPr>
        <p:txBody>
          <a:bodyPr wrap="square" lIns="0" tIns="0" rIns="0" bIns="0" rtlCol="0" anchor="t"/>
          <a:lstStyle/>
          <a:p>
            <a:pPr indent="0" marL="0">
              <a:buNone/>
            </a:pPr>
            <a:r>
              <a:rPr lang="en-US" sz="1200" b="1" dirty="0">
                <a:solidFill>
                  <a:schemeClr val="accent1"/>
                </a:solidFill>
              </a:rPr>
              <a:t>DAILY PLAN (6 HOUR CAPACITY)</a:t>
            </a:r>
            <a:endParaRPr lang="en-US" sz="1200" dirty="0"/>
          </a:p>
        </p:txBody>
      </p:sp>
      <p:pic>
        <p:nvPicPr>
          <p:cNvPr id="6" name="plan-shot" descr="/home/claude/img/c_plan.png">    </p:cNvPr>
          <p:cNvPicPr>
            <a:picLocks noChangeAspect="1"/>
          </p:cNvPicPr>
          <p:nvPr/>
        </p:nvPicPr>
        <p:blipFill>
          <a:blip r:embed="rId2"/>
          <a:stretch>
            <a:fillRect/>
          </a:stretch>
        </p:blipFill>
        <p:spPr>
          <a:xfrm>
            <a:off x="548640" y="4325112"/>
            <a:ext cx="4937760" cy="1596971"/>
          </a:xfrm>
          <a:prstGeom prst="rect">
            <a:avLst/>
          </a:prstGeom>
        </p:spPr>
      </p:pic>
      <p:sp>
        <p:nvSpPr>
          <p:cNvPr id="7" name="text-311"/>
          <p:cNvSpPr txBox="1"/>
          <p:nvPr/>
        </p:nvSpPr>
        <p:spPr>
          <a:xfrm>
            <a:off x="6309360" y="1325880"/>
            <a:ext cx="5303520" cy="256032"/>
          </a:xfrm>
          <a:prstGeom prst="rect">
            <a:avLst/>
          </a:prstGeom>
          <a:noFill/>
          <a:ln/>
        </p:spPr>
        <p:txBody>
          <a:bodyPr wrap="square" lIns="0" tIns="0" rIns="0" bIns="0" rtlCol="0" anchor="t"/>
          <a:lstStyle/>
          <a:p>
            <a:pPr indent="0" marL="0">
              <a:buNone/>
            </a:pPr>
            <a:r>
              <a:rPr lang="en-US" sz="1200" b="1" dirty="0">
                <a:solidFill>
                  <a:schemeClr val="accent1"/>
                </a:solidFill>
              </a:rPr>
              <a:t>REMINDERS</a:t>
            </a:r>
            <a:endParaRPr lang="en-US" sz="1200" dirty="0"/>
          </a:p>
        </p:txBody>
      </p:sp>
      <p:pic>
        <p:nvPicPr>
          <p:cNvPr id="8" name="reminder-shot" descr="/home/claude/img/c_rem.png">    </p:cNvPr>
          <p:cNvPicPr>
            <a:picLocks noChangeAspect="1"/>
          </p:cNvPicPr>
          <p:nvPr/>
        </p:nvPicPr>
        <p:blipFill>
          <a:blip r:embed="rId3"/>
          <a:stretch>
            <a:fillRect/>
          </a:stretch>
        </p:blipFill>
        <p:spPr>
          <a:xfrm>
            <a:off x="6309360" y="1627632"/>
            <a:ext cx="5303520" cy="1607402"/>
          </a:xfrm>
          <a:prstGeom prst="rect">
            <a:avLst/>
          </a:prstGeom>
        </p:spPr>
      </p:pic>
      <p:sp>
        <p:nvSpPr>
          <p:cNvPr id="9" name="text-312"/>
          <p:cNvSpPr txBox="1"/>
          <p:nvPr/>
        </p:nvSpPr>
        <p:spPr>
          <a:xfrm>
            <a:off x="6309360" y="3429000"/>
            <a:ext cx="5303520" cy="256032"/>
          </a:xfrm>
          <a:prstGeom prst="rect">
            <a:avLst/>
          </a:prstGeom>
          <a:noFill/>
          <a:ln/>
        </p:spPr>
        <p:txBody>
          <a:bodyPr wrap="square" lIns="0" tIns="0" rIns="0" bIns="0" rtlCol="0" anchor="t"/>
          <a:lstStyle/>
          <a:p>
            <a:pPr indent="0" marL="0">
              <a:buNone/>
            </a:pPr>
            <a:r>
              <a:rPr lang="en-US" sz="1200" b="1" dirty="0">
                <a:solidFill>
                  <a:schemeClr val="accent1"/>
                </a:solidFill>
              </a:rPr>
              <a:t>TASK STATISTICS</a:t>
            </a:r>
            <a:endParaRPr lang="en-US" sz="1200" dirty="0"/>
          </a:p>
        </p:txBody>
      </p:sp>
      <p:pic>
        <p:nvPicPr>
          <p:cNvPr id="10" name="stats-shot" descr="/home/claude/img/c_stats.png">    </p:cNvPr>
          <p:cNvPicPr>
            <a:picLocks noChangeAspect="1"/>
          </p:cNvPicPr>
          <p:nvPr/>
        </p:nvPicPr>
        <p:blipFill>
          <a:blip r:embed="rId4"/>
          <a:stretch>
            <a:fillRect/>
          </a:stretch>
        </p:blipFill>
        <p:spPr>
          <a:xfrm>
            <a:off x="6309360" y="3730752"/>
            <a:ext cx="3017520" cy="1630067"/>
          </a:xfrm>
          <a:prstGeom prst="rect">
            <a:avLst/>
          </a:prstGeom>
        </p:spPr>
      </p:pic>
      <p:sp>
        <p:nvSpPr>
          <p:cNvPr id="11" name="card-313"/>
          <p:cNvSpPr/>
          <p:nvPr/>
        </p:nvSpPr>
        <p:spPr>
          <a:xfrm>
            <a:off x="9509760" y="3730752"/>
            <a:ext cx="2130552" cy="1630067"/>
          </a:xfrm>
          <a:prstGeom prst="roundRect">
            <a:avLst>
              <a:gd name="adj" fmla="val 6732"/>
            </a:avLst>
          </a:prstGeom>
          <a:solidFill>
            <a:schemeClr val="tx1"/>
          </a:solidFill>
          <a:ln/>
        </p:spPr>
      </p:sp>
      <p:sp>
        <p:nvSpPr>
          <p:cNvPr id="12" name="text-314"/>
          <p:cNvSpPr txBox="1"/>
          <p:nvPr/>
        </p:nvSpPr>
        <p:spPr>
          <a:xfrm>
            <a:off x="9509760" y="3886200"/>
            <a:ext cx="2130552" cy="685800"/>
          </a:xfrm>
          <a:prstGeom prst="rect">
            <a:avLst/>
          </a:prstGeom>
          <a:noFill/>
          <a:ln/>
        </p:spPr>
        <p:txBody>
          <a:bodyPr wrap="square" lIns="0" tIns="0" rIns="0" bIns="0" rtlCol="0" anchor="t"/>
          <a:lstStyle/>
          <a:p>
            <a:pPr algn="ctr" indent="0" marL="0">
              <a:buNone/>
            </a:pPr>
            <a:r>
              <a:rPr lang="en-US" sz="3600" b="1" dirty="0">
                <a:solidFill>
                  <a:schemeClr val="accent2"/>
                </a:solidFill>
                <a:latin typeface="Cambria" pitchFamily="34" charset="0"/>
                <a:ea typeface="Cambria" pitchFamily="34" charset="-122"/>
                <a:cs typeface="Cambria" pitchFamily="34" charset="-120"/>
              </a:rPr>
              <a:t>25%</a:t>
            </a:r>
            <a:endParaRPr lang="en-US" sz="3600" dirty="0"/>
          </a:p>
        </p:txBody>
      </p:sp>
      <p:sp>
        <p:nvSpPr>
          <p:cNvPr id="13" name="text-315"/>
          <p:cNvSpPr txBox="1"/>
          <p:nvPr/>
        </p:nvSpPr>
        <p:spPr>
          <a:xfrm>
            <a:off x="9601200" y="4572000"/>
            <a:ext cx="1947672" cy="777240"/>
          </a:xfrm>
          <a:prstGeom prst="rect">
            <a:avLst/>
          </a:prstGeom>
          <a:noFill/>
          <a:ln/>
        </p:spPr>
        <p:txBody>
          <a:bodyPr wrap="square" lIns="0" tIns="0" rIns="0" bIns="0" rtlCol="0" anchor="t"/>
          <a:lstStyle/>
          <a:p>
            <a:pPr algn="ctr" indent="0" marL="0">
              <a:buNone/>
            </a:pPr>
            <a:r>
              <a:rPr lang="en-US" sz="1400" dirty="0">
                <a:solidFill>
                  <a:schemeClr val="bg1"/>
                </a:solidFill>
              </a:rPr>
              <a:t>completion rate</a:t>
            </a:r>
            <a:endParaRPr lang="en-US" sz="1400" dirty="0"/>
          </a:p>
          <a:p>
            <a:pPr algn="ctr" indent="0" marL="0">
              <a:buNone/>
            </a:pPr>
            <a:r>
              <a:rPr lang="en-US" sz="1400" dirty="0">
                <a:solidFill>
                  <a:schemeClr val="bg1"/>
                </a:solidFill>
              </a:rPr>
              <a:t>3 of 12 tasks done</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Testing and analysis</a:t>
            </a:r>
            <a:endParaRPr lang="en-US" sz="3400" dirty="0"/>
          </a:p>
        </p:txBody>
      </p:sp>
      <p:sp>
        <p:nvSpPr>
          <p:cNvPr id="3" name="card-316"/>
          <p:cNvSpPr/>
          <p:nvPr/>
        </p:nvSpPr>
        <p:spPr>
          <a:xfrm>
            <a:off x="548640" y="1371600"/>
            <a:ext cx="5303520" cy="3745431"/>
          </a:xfrm>
          <a:prstGeom prst="roundRect">
            <a:avLst>
              <a:gd name="adj" fmla="val 2930"/>
            </a:avLst>
          </a:prstGeom>
          <a:solidFill>
            <a:schemeClr val="bg1"/>
          </a:solidFill>
          <a:ln/>
          <a:effectLst>
            <a:outerShdw sx="100000" sy="100000" kx="0" ky="0" algn="bl" rotWithShape="0" blurRad="101600" dist="25400" dir="5400000">
              <a:srgbClr val="000000">
                <a:alpha val="14000"/>
              </a:srgbClr>
            </a:outerShdw>
          </a:effectLst>
        </p:spPr>
      </p:sp>
      <p:pic>
        <p:nvPicPr>
          <p:cNvPr id="4" name="pic-317" descr="/home/claude/img/c_tests.png">    </p:cNvPr>
          <p:cNvPicPr>
            <a:picLocks noChangeAspect="1"/>
          </p:cNvPicPr>
          <p:nvPr/>
        </p:nvPicPr>
        <p:blipFill>
          <a:blip r:embed="rId1"/>
          <a:stretch>
            <a:fillRect/>
          </a:stretch>
        </p:blipFill>
        <p:spPr>
          <a:xfrm>
            <a:off x="640080" y="1463040"/>
            <a:ext cx="5120640" cy="3562551"/>
          </a:xfrm>
          <a:prstGeom prst="rect">
            <a:avLst/>
          </a:prstGeom>
        </p:spPr>
      </p:pic>
      <p:sp>
        <p:nvSpPr>
          <p:cNvPr id="5" name="card-318"/>
          <p:cNvSpPr/>
          <p:nvPr/>
        </p:nvSpPr>
        <p:spPr>
          <a:xfrm>
            <a:off x="6217920" y="1371600"/>
            <a:ext cx="2633472" cy="1325880"/>
          </a:xfrm>
          <a:prstGeom prst="roundRect">
            <a:avLst>
              <a:gd name="adj" fmla="val 8276"/>
            </a:avLst>
          </a:prstGeom>
          <a:solidFill>
            <a:schemeClr val="tx1"/>
          </a:solidFill>
          <a:ln/>
        </p:spPr>
      </p:sp>
      <p:sp>
        <p:nvSpPr>
          <p:cNvPr id="6" name="text-319"/>
          <p:cNvSpPr txBox="1"/>
          <p:nvPr/>
        </p:nvSpPr>
        <p:spPr>
          <a:xfrm>
            <a:off x="6217920" y="1463040"/>
            <a:ext cx="2633472" cy="685800"/>
          </a:xfrm>
          <a:prstGeom prst="rect">
            <a:avLst/>
          </a:prstGeom>
          <a:noFill/>
          <a:ln/>
        </p:spPr>
        <p:txBody>
          <a:bodyPr wrap="square" lIns="0" tIns="0" rIns="0" bIns="0" rtlCol="0" anchor="t"/>
          <a:lstStyle/>
          <a:p>
            <a:pPr algn="ctr" indent="0" marL="0">
              <a:buNone/>
            </a:pPr>
            <a:r>
              <a:rPr lang="en-US" sz="3600" b="1" dirty="0">
                <a:solidFill>
                  <a:schemeClr val="accent2"/>
                </a:solidFill>
                <a:latin typeface="Cambria" pitchFamily="34" charset="0"/>
                <a:ea typeface="Cambria" pitchFamily="34" charset="-122"/>
                <a:cs typeface="Cambria" pitchFamily="34" charset="-120"/>
              </a:rPr>
              <a:t>17 / 17</a:t>
            </a:r>
            <a:endParaRPr lang="en-US" sz="3600" dirty="0"/>
          </a:p>
        </p:txBody>
      </p:sp>
      <p:sp>
        <p:nvSpPr>
          <p:cNvPr id="7" name="text-320"/>
          <p:cNvSpPr txBox="1"/>
          <p:nvPr/>
        </p:nvSpPr>
        <p:spPr>
          <a:xfrm>
            <a:off x="6217920" y="2194560"/>
            <a:ext cx="2633472" cy="320040"/>
          </a:xfrm>
          <a:prstGeom prst="rect">
            <a:avLst/>
          </a:prstGeom>
          <a:noFill/>
          <a:ln/>
        </p:spPr>
        <p:txBody>
          <a:bodyPr wrap="square" lIns="0" tIns="0" rIns="0" bIns="0" rtlCol="0" anchor="t"/>
          <a:lstStyle/>
          <a:p>
            <a:pPr algn="ctr" indent="0" marL="0">
              <a:buNone/>
            </a:pPr>
            <a:r>
              <a:rPr lang="en-US" sz="1400" dirty="0">
                <a:solidFill>
                  <a:schemeClr val="bg1"/>
                </a:solidFill>
              </a:rPr>
              <a:t>automated tests pass</a:t>
            </a:r>
            <a:endParaRPr lang="en-US" sz="1400" dirty="0"/>
          </a:p>
        </p:txBody>
      </p:sp>
      <p:sp>
        <p:nvSpPr>
          <p:cNvPr id="8" name="card-321"/>
          <p:cNvSpPr/>
          <p:nvPr/>
        </p:nvSpPr>
        <p:spPr>
          <a:xfrm>
            <a:off x="9006840" y="1371600"/>
            <a:ext cx="2633472" cy="1325880"/>
          </a:xfrm>
          <a:prstGeom prst="roundRect">
            <a:avLst>
              <a:gd name="adj" fmla="val 8276"/>
            </a:avLst>
          </a:prstGeom>
          <a:solidFill>
            <a:schemeClr val="tx1"/>
          </a:solidFill>
          <a:ln/>
        </p:spPr>
      </p:sp>
      <p:sp>
        <p:nvSpPr>
          <p:cNvPr id="9" name="text-322"/>
          <p:cNvSpPr txBox="1"/>
          <p:nvPr/>
        </p:nvSpPr>
        <p:spPr>
          <a:xfrm>
            <a:off x="9006840" y="1463040"/>
            <a:ext cx="2633472" cy="685800"/>
          </a:xfrm>
          <a:prstGeom prst="rect">
            <a:avLst/>
          </a:prstGeom>
          <a:noFill/>
          <a:ln/>
        </p:spPr>
        <p:txBody>
          <a:bodyPr wrap="square" lIns="0" tIns="0" rIns="0" bIns="0" rtlCol="0" anchor="t"/>
          <a:lstStyle/>
          <a:p>
            <a:pPr algn="ctr" indent="0" marL="0">
              <a:buNone/>
            </a:pPr>
            <a:r>
              <a:rPr lang="en-US" sz="3600" b="1" dirty="0">
                <a:solidFill>
                  <a:schemeClr val="accent2"/>
                </a:solidFill>
                <a:latin typeface="Cambria" pitchFamily="34" charset="0"/>
                <a:ea typeface="Cambria" pitchFamily="34" charset="-122"/>
                <a:cs typeface="Cambria" pitchFamily="34" charset="-120"/>
              </a:rPr>
              <a:t>11 / 11</a:t>
            </a:r>
            <a:endParaRPr lang="en-US" sz="3600" dirty="0"/>
          </a:p>
        </p:txBody>
      </p:sp>
      <p:sp>
        <p:nvSpPr>
          <p:cNvPr id="10" name="text-323"/>
          <p:cNvSpPr txBox="1"/>
          <p:nvPr/>
        </p:nvSpPr>
        <p:spPr>
          <a:xfrm>
            <a:off x="9006840" y="2194560"/>
            <a:ext cx="2633472" cy="320040"/>
          </a:xfrm>
          <a:prstGeom prst="rect">
            <a:avLst/>
          </a:prstGeom>
          <a:noFill/>
          <a:ln/>
        </p:spPr>
        <p:txBody>
          <a:bodyPr wrap="square" lIns="0" tIns="0" rIns="0" bIns="0" rtlCol="0" anchor="t"/>
          <a:lstStyle/>
          <a:p>
            <a:pPr algn="ctr" indent="0" marL="0">
              <a:buNone/>
            </a:pPr>
            <a:r>
              <a:rPr lang="en-US" sz="1400" dirty="0">
                <a:solidFill>
                  <a:schemeClr val="bg1"/>
                </a:solidFill>
              </a:rPr>
              <a:t>manual test cases pass</a:t>
            </a:r>
            <a:endParaRPr lang="en-US" sz="1400" dirty="0"/>
          </a:p>
        </p:txBody>
      </p:sp>
      <p:sp>
        <p:nvSpPr>
          <p:cNvPr id="11" name="text-324"/>
          <p:cNvSpPr txBox="1"/>
          <p:nvPr/>
        </p:nvSpPr>
        <p:spPr>
          <a:xfrm>
            <a:off x="6217920" y="2926080"/>
            <a:ext cx="539496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Key findings</a:t>
            </a:r>
            <a:endParaRPr lang="en-US" sz="2000" dirty="0"/>
          </a:p>
        </p:txBody>
      </p:sp>
      <p:sp>
        <p:nvSpPr>
          <p:cNvPr id="12" name="findings"/>
          <p:cNvSpPr txBox="1"/>
          <p:nvPr/>
        </p:nvSpPr>
        <p:spPr>
          <a:xfrm>
            <a:off x="6217920" y="3383280"/>
            <a:ext cx="539496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Overdue and high-priority tasks rise to the top of the suggestions</a:t>
            </a:r>
            <a:endParaRPr lang="en-US" sz="1400" dirty="0"/>
          </a:p>
          <a:p>
            <a:pPr marL="342900" indent="-342900">
              <a:spcAft>
                <a:spcPts val="600"/>
              </a:spcAft>
              <a:buSzPct val="100000"/>
              <a:buChar char="•"/>
            </a:pPr>
            <a:r>
              <a:rPr lang="en-US" sz="1400" dirty="0">
                <a:solidFill>
                  <a:schemeClr val="tx1"/>
                </a:solidFill>
              </a:rPr>
              <a:t>Passwords stay as bcrypt hashes and task routes need a valid JWT</a:t>
            </a:r>
            <a:endParaRPr lang="en-US" sz="1400" dirty="0"/>
          </a:p>
          <a:p>
            <a:pPr marL="342900" indent="-342900">
              <a:buSzPct val="100000"/>
              <a:buChar char="•"/>
            </a:pPr>
            <a:r>
              <a:rPr lang="en-US" sz="1400" dirty="0">
                <a:solidFill>
                  <a:schemeClr val="tx1"/>
                </a:solidFill>
              </a:rPr>
              <a:t>Dashboard totals matched the task list; layout works on mobile</a:t>
            </a:r>
            <a:endParaRPr lang="en-US" sz="1400" dirty="0"/>
          </a:p>
        </p:txBody>
      </p:sp>
      <p:sp>
        <p:nvSpPr>
          <p:cNvPr id="13" name="card-325"/>
          <p:cNvSpPr/>
          <p:nvPr/>
        </p:nvSpPr>
        <p:spPr>
          <a:xfrm>
            <a:off x="548640" y="5532120"/>
            <a:ext cx="11091672" cy="777240"/>
          </a:xfrm>
          <a:prstGeom prst="roundRect">
            <a:avLst>
              <a:gd name="adj" fmla="val 14118"/>
            </a:avLst>
          </a:prstGeom>
          <a:solidFill>
            <a:schemeClr val="bg2"/>
          </a:solidFill>
          <a:ln/>
        </p:spPr>
      </p:sp>
      <p:sp>
        <p:nvSpPr>
          <p:cNvPr id="14" name="text-326"/>
          <p:cNvSpPr txBox="1"/>
          <p:nvPr/>
        </p:nvSpPr>
        <p:spPr>
          <a:xfrm>
            <a:off x="777240" y="5532120"/>
            <a:ext cx="10698480" cy="777240"/>
          </a:xfrm>
          <a:prstGeom prst="rect">
            <a:avLst/>
          </a:prstGeom>
          <a:noFill/>
          <a:ln/>
        </p:spPr>
        <p:txBody>
          <a:bodyPr wrap="square" lIns="0" tIns="0" rIns="0" bIns="0" rtlCol="0" anchor="ctr"/>
          <a:lstStyle/>
          <a:p>
            <a:pPr indent="0" marL="0">
              <a:buNone/>
            </a:pPr>
            <a:r>
              <a:rPr lang="en-US" sz="1400" b="1" dirty="0">
                <a:solidFill>
                  <a:schemeClr val="tx2"/>
                </a:solidFill>
              </a:rPr>
              <a:t>Challenges solved:  </a:t>
            </a:r>
            <a:pPr indent="0" marL="0">
              <a:buNone/>
            </a:pPr>
            <a:r>
              <a:rPr lang="en-US" sz="1400" dirty="0">
                <a:solidFill>
                  <a:schemeClr val="tx1"/>
                </a:solidFill>
              </a:rPr>
              <a:t>CORS errors, lost login state on refresh, tasks visible to other users, time-zone date differences</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chemeClr val="bg1"/>
                </a:solidFill>
              </a:rPr>
              <a:t>Conclusion and future work</a:t>
            </a:r>
            <a:endParaRPr lang="en-US" sz="3400" dirty="0"/>
          </a:p>
        </p:txBody>
      </p:sp>
      <p:sp>
        <p:nvSpPr>
          <p:cNvPr id="3" name="text-327"/>
          <p:cNvSpPr txBox="1"/>
          <p:nvPr/>
        </p:nvSpPr>
        <p:spPr>
          <a:xfrm>
            <a:off x="548640" y="1371600"/>
            <a:ext cx="5394960" cy="41148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Conclusion</a:t>
            </a:r>
            <a:endParaRPr lang="en-US" sz="2200" dirty="0"/>
          </a:p>
        </p:txBody>
      </p:sp>
      <p:sp>
        <p:nvSpPr>
          <p:cNvPr id="4" name="conclusion"/>
          <p:cNvSpPr txBox="1"/>
          <p:nvPr/>
        </p:nvSpPr>
        <p:spPr>
          <a:xfrm>
            <a:off x="548640" y="1920240"/>
            <a:ext cx="5394960"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One secure, ranked task system replaces scattered lists and reduces missed deadlines</a:t>
            </a:r>
            <a:endParaRPr lang="en-US" sz="1600" dirty="0"/>
          </a:p>
          <a:p>
            <a:pPr marL="342900" indent="-342900">
              <a:spcAft>
                <a:spcPts val="1000"/>
              </a:spcAft>
              <a:buSzPct val="100000"/>
              <a:buChar char="•"/>
            </a:pPr>
            <a:r>
              <a:rPr lang="en-US" sz="1600" dirty="0">
                <a:solidFill>
                  <a:schemeClr val="bg1"/>
                </a:solidFill>
              </a:rPr>
              <a:t>Covered the full web life cycle: design, APIs, authentication, testing, deployment</a:t>
            </a:r>
            <a:endParaRPr lang="en-US" sz="1600" dirty="0"/>
          </a:p>
          <a:p>
            <a:pPr marL="342900" indent="-342900">
              <a:buSzPct val="100000"/>
              <a:buChar char="•"/>
            </a:pPr>
            <a:r>
              <a:rPr lang="en-US" sz="1600" dirty="0">
                <a:solidFill>
                  <a:schemeClr val="bg1"/>
                </a:solidFill>
              </a:rPr>
              <a:t>Gained hands-on skills in React, Node.js, Express, MongoDB and Git</a:t>
            </a:r>
            <a:endParaRPr lang="en-US" sz="1600" dirty="0"/>
          </a:p>
        </p:txBody>
      </p:sp>
      <p:sp>
        <p:nvSpPr>
          <p:cNvPr id="5" name="text-328"/>
          <p:cNvSpPr txBox="1"/>
          <p:nvPr/>
        </p:nvSpPr>
        <p:spPr>
          <a:xfrm>
            <a:off x="6400800" y="1371600"/>
            <a:ext cx="5212080" cy="41148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Future work</a:t>
            </a:r>
            <a:endParaRPr lang="en-US" sz="2200" dirty="0"/>
          </a:p>
        </p:txBody>
      </p:sp>
      <p:sp>
        <p:nvSpPr>
          <p:cNvPr id="6" name="future-329"/>
          <p:cNvSpPr/>
          <p:nvPr/>
        </p:nvSpPr>
        <p:spPr>
          <a:xfrm>
            <a:off x="6400800" y="1920240"/>
            <a:ext cx="2514600" cy="960120"/>
          </a:xfrm>
          <a:prstGeom prst="roundRect">
            <a:avLst>
              <a:gd name="adj" fmla="val 11429"/>
            </a:avLst>
          </a:prstGeom>
          <a:solidFill>
            <a:schemeClr val="tx2"/>
          </a:solidFill>
          <a:ln/>
        </p:spPr>
      </p:sp>
      <p:sp>
        <p:nvSpPr>
          <p:cNvPr id="7" name="iconbg-330"/>
          <p:cNvSpPr/>
          <p:nvPr/>
        </p:nvSpPr>
        <p:spPr>
          <a:xfrm>
            <a:off x="6537960" y="2176272"/>
            <a:ext cx="457200" cy="457200"/>
          </a:xfrm>
          <a:prstGeom prst="ellipse">
            <a:avLst/>
          </a:prstGeom>
          <a:solidFill>
            <a:schemeClr val="accent1"/>
          </a:solidFill>
          <a:ln/>
        </p:spPr>
      </p:sp>
      <p:pic>
        <p:nvPicPr>
          <p:cNvPr id="8" name="icon-331" descr="preencoded.png">    </p:cNvPr>
          <p:cNvPicPr>
            <a:picLocks noChangeAspect="1"/>
          </p:cNvPicPr>
          <p:nvPr/>
        </p:nvPicPr>
        <p:blipFill>
          <a:blip r:embed="rId1"/>
          <a:stretch>
            <a:fillRect/>
          </a:stretch>
        </p:blipFill>
        <p:spPr>
          <a:xfrm>
            <a:off x="6661404" y="2299716"/>
            <a:ext cx="210312" cy="210312"/>
          </a:xfrm>
          <a:prstGeom prst="rect">
            <a:avLst/>
          </a:prstGeom>
        </p:spPr>
      </p:pic>
      <p:sp>
        <p:nvSpPr>
          <p:cNvPr id="9" name="text-332"/>
          <p:cNvSpPr txBox="1"/>
          <p:nvPr/>
        </p:nvSpPr>
        <p:spPr>
          <a:xfrm>
            <a:off x="7132320" y="1920240"/>
            <a:ext cx="1719072" cy="960120"/>
          </a:xfrm>
          <a:prstGeom prst="rect">
            <a:avLst/>
          </a:prstGeom>
          <a:noFill/>
          <a:ln/>
        </p:spPr>
        <p:txBody>
          <a:bodyPr wrap="square" lIns="0" tIns="0" rIns="0" bIns="0" rtlCol="0" anchor="ctr"/>
          <a:lstStyle/>
          <a:p>
            <a:pPr indent="0" marL="0">
              <a:buNone/>
            </a:pPr>
            <a:r>
              <a:rPr lang="en-US" sz="1400" b="1" dirty="0">
                <a:solidFill>
                  <a:schemeClr val="bg1"/>
                </a:solidFill>
              </a:rPr>
              <a:t>Email, SMS and push alerts</a:t>
            </a:r>
            <a:endParaRPr lang="en-US" sz="1400" dirty="0"/>
          </a:p>
        </p:txBody>
      </p:sp>
      <p:sp>
        <p:nvSpPr>
          <p:cNvPr id="10" name="future-333"/>
          <p:cNvSpPr/>
          <p:nvPr/>
        </p:nvSpPr>
        <p:spPr>
          <a:xfrm>
            <a:off x="9052560" y="1920240"/>
            <a:ext cx="2514600" cy="960120"/>
          </a:xfrm>
          <a:prstGeom prst="roundRect">
            <a:avLst>
              <a:gd name="adj" fmla="val 11429"/>
            </a:avLst>
          </a:prstGeom>
          <a:solidFill>
            <a:schemeClr val="tx2"/>
          </a:solidFill>
          <a:ln/>
        </p:spPr>
      </p:sp>
      <p:sp>
        <p:nvSpPr>
          <p:cNvPr id="11" name="iconbg-334"/>
          <p:cNvSpPr/>
          <p:nvPr/>
        </p:nvSpPr>
        <p:spPr>
          <a:xfrm>
            <a:off x="9189720" y="2176272"/>
            <a:ext cx="457200" cy="457200"/>
          </a:xfrm>
          <a:prstGeom prst="ellipse">
            <a:avLst/>
          </a:prstGeom>
          <a:solidFill>
            <a:schemeClr val="accent1"/>
          </a:solidFill>
          <a:ln/>
        </p:spPr>
      </p:sp>
      <p:pic>
        <p:nvPicPr>
          <p:cNvPr id="12" name="icon-335" descr="preencoded.png">    </p:cNvPr>
          <p:cNvPicPr>
            <a:picLocks noChangeAspect="1"/>
          </p:cNvPicPr>
          <p:nvPr/>
        </p:nvPicPr>
        <p:blipFill>
          <a:blip r:embed="rId2"/>
          <a:stretch>
            <a:fillRect/>
          </a:stretch>
        </p:blipFill>
        <p:spPr>
          <a:xfrm>
            <a:off x="9313164" y="2299716"/>
            <a:ext cx="210312" cy="210312"/>
          </a:xfrm>
          <a:prstGeom prst="rect">
            <a:avLst/>
          </a:prstGeom>
        </p:spPr>
      </p:pic>
      <p:sp>
        <p:nvSpPr>
          <p:cNvPr id="13" name="text-336"/>
          <p:cNvSpPr txBox="1"/>
          <p:nvPr/>
        </p:nvSpPr>
        <p:spPr>
          <a:xfrm>
            <a:off x="9784080" y="1920240"/>
            <a:ext cx="1719072" cy="960120"/>
          </a:xfrm>
          <a:prstGeom prst="rect">
            <a:avLst/>
          </a:prstGeom>
          <a:noFill/>
          <a:ln/>
        </p:spPr>
        <p:txBody>
          <a:bodyPr wrap="square" lIns="0" tIns="0" rIns="0" bIns="0" rtlCol="0" anchor="ctr"/>
          <a:lstStyle/>
          <a:p>
            <a:pPr indent="0" marL="0">
              <a:buNone/>
            </a:pPr>
            <a:r>
              <a:rPr lang="en-US" sz="1400" b="1" dirty="0">
                <a:solidFill>
                  <a:schemeClr val="bg1"/>
                </a:solidFill>
              </a:rPr>
              <a:t>Team workspaces and sharing</a:t>
            </a:r>
            <a:endParaRPr lang="en-US" sz="1400" dirty="0"/>
          </a:p>
        </p:txBody>
      </p:sp>
      <p:sp>
        <p:nvSpPr>
          <p:cNvPr id="14" name="future-337"/>
          <p:cNvSpPr/>
          <p:nvPr/>
        </p:nvSpPr>
        <p:spPr>
          <a:xfrm>
            <a:off x="6400800" y="3017520"/>
            <a:ext cx="2514600" cy="960120"/>
          </a:xfrm>
          <a:prstGeom prst="roundRect">
            <a:avLst>
              <a:gd name="adj" fmla="val 11429"/>
            </a:avLst>
          </a:prstGeom>
          <a:solidFill>
            <a:schemeClr val="tx2"/>
          </a:solidFill>
          <a:ln/>
        </p:spPr>
      </p:sp>
      <p:sp>
        <p:nvSpPr>
          <p:cNvPr id="15" name="iconbg-338"/>
          <p:cNvSpPr/>
          <p:nvPr/>
        </p:nvSpPr>
        <p:spPr>
          <a:xfrm>
            <a:off x="6537960" y="3273552"/>
            <a:ext cx="457200" cy="457200"/>
          </a:xfrm>
          <a:prstGeom prst="ellipse">
            <a:avLst/>
          </a:prstGeom>
          <a:solidFill>
            <a:schemeClr val="accent1"/>
          </a:solidFill>
          <a:ln/>
        </p:spPr>
      </p:sp>
      <p:pic>
        <p:nvPicPr>
          <p:cNvPr id="16" name="icon-339" descr="preencoded.png">    </p:cNvPr>
          <p:cNvPicPr>
            <a:picLocks noChangeAspect="1"/>
          </p:cNvPicPr>
          <p:nvPr/>
        </p:nvPicPr>
        <p:blipFill>
          <a:blip r:embed="rId3"/>
          <a:stretch>
            <a:fillRect/>
          </a:stretch>
        </p:blipFill>
        <p:spPr>
          <a:xfrm>
            <a:off x="6661404" y="3396996"/>
            <a:ext cx="210312" cy="210312"/>
          </a:xfrm>
          <a:prstGeom prst="rect">
            <a:avLst/>
          </a:prstGeom>
        </p:spPr>
      </p:pic>
      <p:sp>
        <p:nvSpPr>
          <p:cNvPr id="17" name="text-340"/>
          <p:cNvSpPr txBox="1"/>
          <p:nvPr/>
        </p:nvSpPr>
        <p:spPr>
          <a:xfrm>
            <a:off x="7132320" y="3017520"/>
            <a:ext cx="1719072" cy="960120"/>
          </a:xfrm>
          <a:prstGeom prst="rect">
            <a:avLst/>
          </a:prstGeom>
          <a:noFill/>
          <a:ln/>
        </p:spPr>
        <p:txBody>
          <a:bodyPr wrap="square" lIns="0" tIns="0" rIns="0" bIns="0" rtlCol="0" anchor="ctr"/>
          <a:lstStyle/>
          <a:p>
            <a:pPr indent="0" marL="0">
              <a:buNone/>
            </a:pPr>
            <a:r>
              <a:rPr lang="en-US" sz="1400" b="1" dirty="0">
                <a:solidFill>
                  <a:schemeClr val="bg1"/>
                </a:solidFill>
              </a:rPr>
              <a:t>Drag-and-drop Kanban board</a:t>
            </a:r>
            <a:endParaRPr lang="en-US" sz="1400" dirty="0"/>
          </a:p>
        </p:txBody>
      </p:sp>
      <p:sp>
        <p:nvSpPr>
          <p:cNvPr id="18" name="future-341"/>
          <p:cNvSpPr/>
          <p:nvPr/>
        </p:nvSpPr>
        <p:spPr>
          <a:xfrm>
            <a:off x="9052560" y="3017520"/>
            <a:ext cx="2514600" cy="960120"/>
          </a:xfrm>
          <a:prstGeom prst="roundRect">
            <a:avLst>
              <a:gd name="adj" fmla="val 11429"/>
            </a:avLst>
          </a:prstGeom>
          <a:solidFill>
            <a:schemeClr val="tx2"/>
          </a:solidFill>
          <a:ln/>
        </p:spPr>
      </p:sp>
      <p:sp>
        <p:nvSpPr>
          <p:cNvPr id="19" name="iconbg-342"/>
          <p:cNvSpPr/>
          <p:nvPr/>
        </p:nvSpPr>
        <p:spPr>
          <a:xfrm>
            <a:off x="9189720" y="3273552"/>
            <a:ext cx="457200" cy="457200"/>
          </a:xfrm>
          <a:prstGeom prst="ellipse">
            <a:avLst/>
          </a:prstGeom>
          <a:solidFill>
            <a:schemeClr val="accent1"/>
          </a:solidFill>
          <a:ln/>
        </p:spPr>
      </p:sp>
      <p:pic>
        <p:nvPicPr>
          <p:cNvPr id="20" name="icon-343" descr="preencoded.png">    </p:cNvPr>
          <p:cNvPicPr>
            <a:picLocks noChangeAspect="1"/>
          </p:cNvPicPr>
          <p:nvPr/>
        </p:nvPicPr>
        <p:blipFill>
          <a:blip r:embed="rId4"/>
          <a:stretch>
            <a:fillRect/>
          </a:stretch>
        </p:blipFill>
        <p:spPr>
          <a:xfrm>
            <a:off x="9313164" y="3396996"/>
            <a:ext cx="210312" cy="210312"/>
          </a:xfrm>
          <a:prstGeom prst="rect">
            <a:avLst/>
          </a:prstGeom>
        </p:spPr>
      </p:pic>
      <p:sp>
        <p:nvSpPr>
          <p:cNvPr id="21" name="text-344"/>
          <p:cNvSpPr txBox="1"/>
          <p:nvPr/>
        </p:nvSpPr>
        <p:spPr>
          <a:xfrm>
            <a:off x="9784080" y="3017520"/>
            <a:ext cx="1719072" cy="960120"/>
          </a:xfrm>
          <a:prstGeom prst="rect">
            <a:avLst/>
          </a:prstGeom>
          <a:noFill/>
          <a:ln/>
        </p:spPr>
        <p:txBody>
          <a:bodyPr wrap="square" lIns="0" tIns="0" rIns="0" bIns="0" rtlCol="0" anchor="ctr"/>
          <a:lstStyle/>
          <a:p>
            <a:pPr indent="0" marL="0">
              <a:buNone/>
            </a:pPr>
            <a:r>
              <a:rPr lang="en-US" sz="1400" b="1" dirty="0">
                <a:solidFill>
                  <a:schemeClr val="bg1"/>
                </a:solidFill>
              </a:rPr>
              <a:t>ML-based suggestions</a:t>
            </a:r>
            <a:endParaRPr lang="en-US" sz="1400" dirty="0"/>
          </a:p>
        </p:txBody>
      </p:sp>
      <p:sp>
        <p:nvSpPr>
          <p:cNvPr id="22" name="future-345"/>
          <p:cNvSpPr/>
          <p:nvPr/>
        </p:nvSpPr>
        <p:spPr>
          <a:xfrm>
            <a:off x="6400800" y="4114800"/>
            <a:ext cx="2514600" cy="960120"/>
          </a:xfrm>
          <a:prstGeom prst="roundRect">
            <a:avLst>
              <a:gd name="adj" fmla="val 11429"/>
            </a:avLst>
          </a:prstGeom>
          <a:solidFill>
            <a:schemeClr val="tx2"/>
          </a:solidFill>
          <a:ln/>
        </p:spPr>
      </p:sp>
      <p:sp>
        <p:nvSpPr>
          <p:cNvPr id="23" name="iconbg-346"/>
          <p:cNvSpPr/>
          <p:nvPr/>
        </p:nvSpPr>
        <p:spPr>
          <a:xfrm>
            <a:off x="6537960" y="4370832"/>
            <a:ext cx="457200" cy="457200"/>
          </a:xfrm>
          <a:prstGeom prst="ellipse">
            <a:avLst/>
          </a:prstGeom>
          <a:solidFill>
            <a:schemeClr val="accent1"/>
          </a:solidFill>
          <a:ln/>
        </p:spPr>
      </p:sp>
      <p:pic>
        <p:nvPicPr>
          <p:cNvPr id="24" name="icon-347" descr="preencoded.png">    </p:cNvPr>
          <p:cNvPicPr>
            <a:picLocks noChangeAspect="1"/>
          </p:cNvPicPr>
          <p:nvPr/>
        </p:nvPicPr>
        <p:blipFill>
          <a:blip r:embed="rId5"/>
          <a:stretch>
            <a:fillRect/>
          </a:stretch>
        </p:blipFill>
        <p:spPr>
          <a:xfrm>
            <a:off x="6661404" y="4494276"/>
            <a:ext cx="210312" cy="210312"/>
          </a:xfrm>
          <a:prstGeom prst="rect">
            <a:avLst/>
          </a:prstGeom>
        </p:spPr>
      </p:pic>
      <p:sp>
        <p:nvSpPr>
          <p:cNvPr id="25" name="text-348"/>
          <p:cNvSpPr txBox="1"/>
          <p:nvPr/>
        </p:nvSpPr>
        <p:spPr>
          <a:xfrm>
            <a:off x="7132320" y="4114800"/>
            <a:ext cx="1719072" cy="960120"/>
          </a:xfrm>
          <a:prstGeom prst="rect">
            <a:avLst/>
          </a:prstGeom>
          <a:noFill/>
          <a:ln/>
        </p:spPr>
        <p:txBody>
          <a:bodyPr wrap="square" lIns="0" tIns="0" rIns="0" bIns="0" rtlCol="0" anchor="ctr"/>
          <a:lstStyle/>
          <a:p>
            <a:pPr indent="0" marL="0">
              <a:buNone/>
            </a:pPr>
            <a:r>
              <a:rPr lang="en-US" sz="1400" b="1" dirty="0">
                <a:solidFill>
                  <a:schemeClr val="bg1"/>
                </a:solidFill>
              </a:rPr>
              <a:t>Progressive Web App</a:t>
            </a:r>
            <a:endParaRPr lang="en-US" sz="1400" dirty="0"/>
          </a:p>
        </p:txBody>
      </p:sp>
      <p:sp>
        <p:nvSpPr>
          <p:cNvPr id="26" name="future-349"/>
          <p:cNvSpPr/>
          <p:nvPr/>
        </p:nvSpPr>
        <p:spPr>
          <a:xfrm>
            <a:off x="9052560" y="4114800"/>
            <a:ext cx="2514600" cy="960120"/>
          </a:xfrm>
          <a:prstGeom prst="roundRect">
            <a:avLst>
              <a:gd name="adj" fmla="val 11429"/>
            </a:avLst>
          </a:prstGeom>
          <a:solidFill>
            <a:schemeClr val="tx2"/>
          </a:solidFill>
          <a:ln/>
        </p:spPr>
      </p:sp>
      <p:sp>
        <p:nvSpPr>
          <p:cNvPr id="27" name="iconbg-350"/>
          <p:cNvSpPr/>
          <p:nvPr/>
        </p:nvSpPr>
        <p:spPr>
          <a:xfrm>
            <a:off x="9189720" y="4370832"/>
            <a:ext cx="457200" cy="457200"/>
          </a:xfrm>
          <a:prstGeom prst="ellipse">
            <a:avLst/>
          </a:prstGeom>
          <a:solidFill>
            <a:schemeClr val="accent1"/>
          </a:solidFill>
          <a:ln/>
        </p:spPr>
      </p:sp>
      <p:pic>
        <p:nvPicPr>
          <p:cNvPr id="28" name="icon-351" descr="preencoded.png">    </p:cNvPr>
          <p:cNvPicPr>
            <a:picLocks noChangeAspect="1"/>
          </p:cNvPicPr>
          <p:nvPr/>
        </p:nvPicPr>
        <p:blipFill>
          <a:blip r:embed="rId6"/>
          <a:stretch>
            <a:fillRect/>
          </a:stretch>
        </p:blipFill>
        <p:spPr>
          <a:xfrm>
            <a:off x="9313164" y="4494276"/>
            <a:ext cx="210312" cy="210312"/>
          </a:xfrm>
          <a:prstGeom prst="rect">
            <a:avLst/>
          </a:prstGeom>
        </p:spPr>
      </p:pic>
      <p:sp>
        <p:nvSpPr>
          <p:cNvPr id="29" name="text-352"/>
          <p:cNvSpPr txBox="1"/>
          <p:nvPr/>
        </p:nvSpPr>
        <p:spPr>
          <a:xfrm>
            <a:off x="9784080" y="4114800"/>
            <a:ext cx="1719072" cy="960120"/>
          </a:xfrm>
          <a:prstGeom prst="rect">
            <a:avLst/>
          </a:prstGeom>
          <a:noFill/>
          <a:ln/>
        </p:spPr>
        <p:txBody>
          <a:bodyPr wrap="square" lIns="0" tIns="0" rIns="0" bIns="0" rtlCol="0" anchor="ctr"/>
          <a:lstStyle/>
          <a:p>
            <a:pPr indent="0" marL="0">
              <a:buNone/>
            </a:pPr>
            <a:r>
              <a:rPr lang="en-US" sz="1400" b="1" dirty="0">
                <a:solidFill>
                  <a:schemeClr val="bg1"/>
                </a:solidFill>
              </a:rPr>
              <a:t>CI/CD on a cloud platform</a:t>
            </a:r>
            <a:endParaRPr lang="en-US" sz="1400" dirty="0"/>
          </a:p>
        </p:txBody>
      </p:sp>
      <p:sp>
        <p:nvSpPr>
          <p:cNvPr id="30" name="text-353"/>
          <p:cNvSpPr txBox="1"/>
          <p:nvPr/>
        </p:nvSpPr>
        <p:spPr>
          <a:xfrm>
            <a:off x="548640" y="5257800"/>
            <a:ext cx="5486400" cy="73152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1" name="text-354"/>
          <p:cNvSpPr txBox="1"/>
          <p:nvPr/>
        </p:nvSpPr>
        <p:spPr>
          <a:xfrm>
            <a:off x="6400800" y="5349240"/>
            <a:ext cx="5212080" cy="365760"/>
          </a:xfrm>
          <a:prstGeom prst="rect">
            <a:avLst/>
          </a:prstGeom>
          <a:noFill/>
          <a:ln/>
        </p:spPr>
        <p:txBody>
          <a:bodyPr wrap="square" lIns="0" tIns="0" rIns="0" bIns="0" rtlCol="0" anchor="t"/>
          <a:lstStyle/>
          <a:p>
            <a:pPr indent="0" marL="0">
              <a:buNone/>
            </a:pPr>
            <a:r>
              <a:rPr lang="en-US" sz="1800" b="1" dirty="0">
                <a:solidFill>
                  <a:schemeClr val="bg1"/>
                </a:solidFill>
              </a:rPr>
              <a:t>Abinaya U – 810023205017</a:t>
            </a:r>
            <a:endParaRPr lang="en-US" sz="1800" dirty="0"/>
          </a:p>
        </p:txBody>
      </p:sp>
      <p:sp>
        <p:nvSpPr>
          <p:cNvPr id="32" name="text-355"/>
          <p:cNvSpPr txBox="1"/>
          <p:nvPr/>
        </p:nvSpPr>
        <p:spPr>
          <a:xfrm>
            <a:off x="6400800" y="5760720"/>
            <a:ext cx="5212080" cy="320040"/>
          </a:xfrm>
          <a:prstGeom prst="rect">
            <a:avLst/>
          </a:prstGeom>
          <a:noFill/>
          <a:ln/>
        </p:spPr>
        <p:txBody>
          <a:bodyPr wrap="square" lIns="0" tIns="0" rIns="0" bIns="0" rtlCol="0" anchor="t"/>
          <a:lstStyle/>
          <a:p>
            <a:pPr indent="0" marL="0">
              <a:buNone/>
            </a:pPr>
            <a:r>
              <a:rPr lang="en-US" sz="1400" dirty="0">
                <a:solidFill>
                  <a:schemeClr val="accent1"/>
                </a:solidFill>
              </a:rPr>
              <a:t>Anna University, Tiruchirappalli  ·  Questions are welcome</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mart Task Manager">
  <a:themeElements>
    <a:clrScheme name="Smart Task Manager">
      <a:dk1>
        <a:srgbClr val="142046"/>
      </a:dk1>
      <a:lt1>
        <a:srgbClr val="FFFFFF"/>
      </a:lt1>
      <a:dk2>
        <a:srgbClr val="1F3A8A"/>
      </a:dk2>
      <a:lt2>
        <a:srgbClr val="EEF2FA"/>
      </a:lt2>
      <a:accent1>
        <a:srgbClr val="0E9AA7"/>
      </a:accent1>
      <a:accent2>
        <a:srgbClr val="F5A524"/>
      </a:accent2>
      <a:accent3>
        <a:srgbClr val="2F4FB0"/>
      </a:accent3>
      <a:accent4>
        <a:srgbClr val="DC2626"/>
      </a:accent4>
      <a:accent5>
        <a:srgbClr val="16A34A"/>
      </a:accent5>
      <a:accent6>
        <a:srgbClr val="64748B"/>
      </a:accent6>
      <a:hlink>
        <a:srgbClr val="0E9AA7"/>
      </a:hlink>
      <a:folHlink>
        <a:srgbClr val="64748B"/>
      </a:folHlink>
    </a:clrScheme>
    <a:fontScheme name="Smart Task Mana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Task Manager – Summer Internship</dc:title>
  <dc:subject>PptxGenJS Presentation</dc:subject>
  <dc:creator>Abinaya U</dc:creator>
  <cp:lastModifiedBy>Abinaya U</cp:lastModifiedBy>
  <cp:revision>1</cp:revision>
  <dcterms:created xsi:type="dcterms:W3CDTF">2026-10-21T19:21:32Z</dcterms:created>
  <dcterms:modified xsi:type="dcterms:W3CDTF">2026-10-21T19:21:32Z</dcterms:modified>
</cp:coreProperties>
</file>